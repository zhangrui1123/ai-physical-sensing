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8" r:id="rId1"/>
    <p:sldMasterId id="2147483797" r:id="rId2"/>
    <p:sldMasterId id="2147483816" r:id="rId3"/>
    <p:sldMasterId id="2147483683" r:id="rId4"/>
  </p:sldMasterIdLst>
  <p:notesMasterIdLst>
    <p:notesMasterId r:id="rId10"/>
  </p:notesMasterIdLst>
  <p:handoutMasterIdLst>
    <p:handoutMasterId r:id="rId11"/>
  </p:handoutMasterIdLst>
  <p:sldIdLst>
    <p:sldId id="256" r:id="rId9"/>
    <p:sldId id="257" r:id="rId8"/>
    <p:sldId id="258" r:id="rId7"/>
    <p:sldId id="259" r:id="rId6"/>
    <p:sldId id="260" r:id="rId5"/>
    <p:sldId id="261" r:id="rId16"/>
    <p:sldId id="262" r:id="rId17"/>
    <p:sldId id="263" r:id="rId18"/>
    <p:sldId id="264" r:id="rId19"/>
    <p:sldId id="265" r:id="rId20"/>
    <p:sldId id="266" r:id="rId21"/>
  </p:sldIdLst>
  <p:sldSz cx="12196763" cy="6858000"/>
  <p:notesSz cx="6858000" cy="9144000"/>
  <p:defaultTextStyle>
    <a:defPPr>
      <a:defRPr lang="en-US"/>
    </a:defPPr>
    <a:lvl1pPr marL="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4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7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71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957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196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43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67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913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页_图片版" id="{E8D0D622-F6C6-F44A-B365-B4A5FF6195C2}">
          <p14:sldIdLst>
            <p14:sldId id="283"/>
          </p14:sldIdLst>
        </p14:section>
        <p14:section name="目录页" id="{9D221634-295C-7843-AF5C-A0CB4F229241}">
          <p14:sldIdLst>
            <p14:sldId id="282"/>
          </p14:sldIdLst>
        </p14:section>
        <p14:section name="章节页" id="{FD05EE94-C931-8C4B-83A2-004B32AA1207}">
          <p14:sldIdLst>
            <p14:sldId id="281"/>
            <p14:sldId id="285"/>
          </p14:sldIdLst>
        </p14:section>
        <p14:section name="结束页" id="{3F9D54A7-3BE2-2540-BB4C-DFE5509085F3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>
        <p15:guide id="5" pos="3701" userDrawn="1">
          <p15:clr>
            <a:srgbClr val="A4A3A4"/>
          </p15:clr>
        </p15:guide>
        <p15:guide id="6" orient="horz" pos="2159" userDrawn="1">
          <p15:clr>
            <a:srgbClr val="A4A3A4"/>
          </p15:clr>
        </p15:guide>
        <p15:guide id="7" pos="353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1515"/>
    <a:srgbClr val="C7000B"/>
    <a:srgbClr val="575756"/>
    <a:srgbClr val="FFFFFF"/>
    <a:srgbClr val="DD4654"/>
    <a:srgbClr val="F3D2D5"/>
    <a:srgbClr val="E6A8AD"/>
    <a:srgbClr val="E57B84"/>
    <a:srgbClr val="E57984"/>
    <a:srgbClr val="BF00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91"/>
  </p:normalViewPr>
  <p:slideViewPr>
    <p:cSldViewPr snapToGrid="0" snapToObjects="1">
      <p:cViewPr varScale="1">
        <p:scale>
          <a:sx n="88" d="100"/>
          <a:sy n="88" d="100"/>
        </p:scale>
        <p:origin x="460" y="68"/>
      </p:cViewPr>
      <p:guideLst>
        <p:guide pos="3701"/>
        <p:guide orient="horz" pos="2159"/>
        <p:guide pos="353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="" xmlns:a16="http://schemas.microsoft.com/office/drawing/2014/main" id="{8CC198DB-AFBD-584A-8986-364FF2B03F4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AD01315C-523F-A043-8029-B992149712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/>
              <a:t>1/28/2021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B9601424-70F4-1643-8E3A-557A0258D6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E85BF48A-FF5C-8145-95A7-EE66A87C73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0952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60A27-BF12-6744-9E93-932A0E34D8BB}" type="datetimeFigureOut">
              <a:rPr lang="en-US" smtClean="0"/>
              <a:t>1/28/2021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7326F3-4732-B74B-9C70-D0992466E4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632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5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304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957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60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26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913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566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21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探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0" name="Title 1">
            <a:extLst>
              <a:ext uri="{FF2B5EF4-FFF2-40B4-BE49-F238E27FC236}">
                <a16:creationId xmlns="" xmlns:a16="http://schemas.microsoft.com/office/drawing/2014/main" id="{8227DEE9-8BE9-0D49-BF96-9E83C5312E0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="" xmlns:a16="http://schemas.microsoft.com/office/drawing/2014/main" id="{2F43DA98-D48D-6947-95EF-BA3B05E688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603596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341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智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18" name="L 形 17"/>
          <p:cNvSpPr/>
          <p:nvPr userDrawn="1"/>
        </p:nvSpPr>
        <p:spPr>
          <a:xfrm rot="5400000">
            <a:off x="5824025" y="256863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8" name="Title 1">
            <a:extLst>
              <a:ext uri="{FF2B5EF4-FFF2-40B4-BE49-F238E27FC236}">
                <a16:creationId xmlns="" xmlns:a16="http://schemas.microsoft.com/office/drawing/2014/main" id="{62AA4863-E1EF-3342-A8CB-ECD4FD06CE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195303EA-8491-464F-99A0-67F948701C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484759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攀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25" r="2034" b="5607"/>
          <a:stretch/>
        </p:blipFill>
        <p:spPr>
          <a:xfrm>
            <a:off x="1" y="-36206"/>
            <a:ext cx="12196763" cy="563847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8" name="L 形 7"/>
          <p:cNvSpPr/>
          <p:nvPr userDrawn="1"/>
        </p:nvSpPr>
        <p:spPr>
          <a:xfrm rot="5400000">
            <a:off x="7929967" y="165755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6BB7B2F8-0AF7-D04F-81DD-52FDB6B732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044998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341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灯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="" xmlns:a16="http://schemas.microsoft.com/office/drawing/2014/main" id="{E2C11B17-3CC6-445B-AC71-74F18E4B41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8" t="7030" b="11599"/>
          <a:stretch/>
        </p:blipFill>
        <p:spPr>
          <a:xfrm>
            <a:off x="0" y="0"/>
            <a:ext cx="12196763" cy="5602265"/>
          </a:xfrm>
          <a:prstGeom prst="rect">
            <a:avLst/>
          </a:prstGeom>
        </p:spPr>
      </p:pic>
      <p:sp>
        <p:nvSpPr>
          <p:cNvPr id="13" name="L 形 12">
            <a:extLst>
              <a:ext uri="{FF2B5EF4-FFF2-40B4-BE49-F238E27FC236}">
                <a16:creationId xmlns="" xmlns:a16="http://schemas.microsoft.com/office/drawing/2014/main" id="{D9C13A00-1073-4DDB-80E9-154875087B13}"/>
              </a:ext>
            </a:extLst>
          </p:cNvPr>
          <p:cNvSpPr/>
          <p:nvPr userDrawn="1"/>
        </p:nvSpPr>
        <p:spPr>
          <a:xfrm rot="5400000">
            <a:off x="5945516" y="2323519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1" name="Title 1">
            <a:extLst>
              <a:ext uri="{FF2B5EF4-FFF2-40B4-BE49-F238E27FC236}">
                <a16:creationId xmlns="" xmlns:a16="http://schemas.microsoft.com/office/drawing/2014/main" id="{C897A368-8F39-4049-9BB0-AEB315EB7E0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12621051-E1A4-A049-BF21-61B18B3483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7399749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s page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=""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463">
              <a:lnSpc>
                <a:spcPct val="70000"/>
              </a:lnSpc>
              <a:buFont typeface="+mj-lt"/>
              <a:buAutoNum type="arabicPeriod"/>
              <a:tabLst/>
              <a:defRPr sz="2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12750" indent="-398463">
              <a:buFont typeface="+mj-lt"/>
              <a:buAutoNum type="arabicPeriod"/>
              <a:tabLst/>
              <a:defRPr/>
            </a:lvl2pPr>
            <a:lvl3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>
            <a:extLst>
              <a:ext uri="{FF2B5EF4-FFF2-40B4-BE49-F238E27FC236}">
                <a16:creationId xmlns=""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9918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>
            <a:extLst>
              <a:ext uri="{FF2B5EF4-FFF2-40B4-BE49-F238E27FC236}">
                <a16:creationId xmlns=""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918916" y="630373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636" dirty="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1684229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593900" indent="0" algn="ctr">
              <a:buNone/>
              <a:defRPr sz="2598"/>
            </a:lvl2pPr>
            <a:lvl3pPr marL="1187798" indent="0" algn="ctr">
              <a:buNone/>
              <a:defRPr sz="2338"/>
            </a:lvl3pPr>
            <a:lvl4pPr marL="1781699" indent="0" algn="ctr">
              <a:buNone/>
              <a:defRPr sz="2079"/>
            </a:lvl4pPr>
            <a:lvl5pPr marL="2375598" indent="0" algn="ctr">
              <a:buNone/>
              <a:defRPr sz="2079"/>
            </a:lvl5pPr>
            <a:lvl6pPr marL="2969497" indent="0" algn="ctr">
              <a:buNone/>
              <a:defRPr sz="2079"/>
            </a:lvl6pPr>
            <a:lvl7pPr marL="3563396" indent="0" algn="ctr">
              <a:buNone/>
              <a:defRPr sz="2079"/>
            </a:lvl7pPr>
            <a:lvl8pPr marL="4157297" indent="0" algn="ctr">
              <a:buNone/>
              <a:defRPr sz="2079"/>
            </a:lvl8pPr>
            <a:lvl9pPr marL="4751195" indent="0" algn="ctr">
              <a:buNone/>
              <a:defRPr sz="207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="" xmlns:a16="http://schemas.microsoft.com/office/drawing/2014/main" id="{8A4EAA63-3827-DA40-B921-C01084B9DA8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36908" y="150198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373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20" algn="ctr"/>
              </a:tabLst>
              <a:defRPr sz="18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2pPr>
            <a:lvl3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3pPr>
            <a:lvl4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4pPr>
            <a:lvl5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791374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2" pos="3842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42AF307D-40F4-EC4C-9108-79E948007529}"/>
              </a:ext>
            </a:extLst>
          </p:cNvPr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940" dirty="0">
                <a:solidFill>
                  <a:schemeClr val="tx1"/>
                </a:solidFill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36647860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3.xml"/><Relationship Id="rId3" Type="http://schemas.openxmlformats.org/officeDocument/2006/relationships/image" Target="../media/image6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heme" Target="../theme/theme4.xml"/><Relationship Id="rId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="" xmlns:a16="http://schemas.microsoft.com/office/drawing/2014/main" id="{AF72FAD7-C8C3-754A-A498-D3A7EC29AB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9309" y="6270651"/>
            <a:ext cx="1982316" cy="15361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>
              <a:lnSpc>
                <a:spcPct val="100000"/>
              </a:lnSpc>
            </a:pPr>
            <a:r>
              <a:rPr kumimoji="1" lang="en-US" altLang="zh-CN" sz="1000" dirty="0"/>
              <a:t>Security Level:</a:t>
            </a:r>
            <a:endParaRPr lang="en-US" altLang="zh-CN" sz="1000" dirty="0"/>
          </a:p>
        </p:txBody>
      </p:sp>
      <p:pic>
        <p:nvPicPr>
          <p:cNvPr id="38" name="图片 37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6684" y="5976168"/>
            <a:ext cx="2258389" cy="48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104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2" r:id="rId1"/>
    <p:sldLayoutId id="2147483893" r:id="rId2"/>
    <p:sldLayoutId id="2147483897" r:id="rId3"/>
    <p:sldLayoutId id="2147483822" r:id="rId4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59" userDrawn="1">
          <p15:clr>
            <a:srgbClr val="F26B43"/>
          </p15:clr>
        </p15:guide>
        <p15:guide id="2" pos="3841" userDrawn="1">
          <p15:clr>
            <a:srgbClr val="F26B43"/>
          </p15:clr>
        </p15:guide>
        <p15:guide id="3" pos="565" userDrawn="1">
          <p15:clr>
            <a:srgbClr val="F26B43"/>
          </p15:clr>
        </p15:guide>
        <p15:guide id="4" orient="horz" pos="4007" userDrawn="1">
          <p15:clr>
            <a:srgbClr val="F26B43"/>
          </p15:clr>
        </p15:guide>
        <p15:guide id="5" orient="horz" pos="1235" userDrawn="1">
          <p15:clr>
            <a:srgbClr val="F26B43"/>
          </p15:clr>
        </p15:guide>
        <p15:guide id="6" orient="horz" pos="553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1239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7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25" userDrawn="1">
          <p15:clr>
            <a:srgbClr val="F26B43"/>
          </p15:clr>
        </p15:guide>
        <p15:guide id="5" orient="horz" pos="410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7" y="6356939"/>
            <a:ext cx="1463467" cy="242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74" b="0" baseline="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1" y="6402806"/>
            <a:ext cx="499729" cy="1502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8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74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8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74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5999" y="6319870"/>
            <a:ext cx="1269075" cy="271153"/>
          </a:xfrm>
          <a:prstGeom prst="rect">
            <a:avLst/>
          </a:prstGeom>
        </p:spPr>
      </p:pic>
      <p:grpSp>
        <p:nvGrpSpPr>
          <p:cNvPr id="25" name="组合 24"/>
          <p:cNvGrpSpPr/>
          <p:nvPr userDrawn="1"/>
        </p:nvGrpSpPr>
        <p:grpSpPr>
          <a:xfrm>
            <a:off x="12216278" y="2931937"/>
            <a:ext cx="1982916" cy="3934682"/>
            <a:chOff x="12216278" y="2262477"/>
            <a:chExt cx="1982916" cy="4604143"/>
          </a:xfrm>
        </p:grpSpPr>
        <p:grpSp>
          <p:nvGrpSpPr>
            <p:cNvPr id="26" name="组合 25"/>
            <p:cNvGrpSpPr/>
            <p:nvPr userDrawn="1"/>
          </p:nvGrpSpPr>
          <p:grpSpPr>
            <a:xfrm>
              <a:off x="12315635" y="2262477"/>
              <a:ext cx="1883559" cy="692624"/>
              <a:chOff x="12315635" y="2207613"/>
              <a:chExt cx="1883559" cy="692624"/>
            </a:xfrm>
          </p:grpSpPr>
          <p:sp>
            <p:nvSpPr>
              <p:cNvPr id="44" name="矩形 5">
                <a:extLst>
                  <a:ext uri="{FF2B5EF4-FFF2-40B4-BE49-F238E27FC236}">
                    <a16:creationId xmlns="" xmlns:a16="http://schemas.microsoft.com/office/drawing/2014/main" id="{3B0B5EC2-EA55-CC45-A9D0-D5EA5D768C99}"/>
                  </a:ext>
                </a:extLst>
              </p:cNvPr>
              <p:cNvSpPr/>
              <p:nvPr userDrawn="1"/>
            </p:nvSpPr>
            <p:spPr>
              <a:xfrm>
                <a:off x="12315635" y="2401808"/>
                <a:ext cx="911019" cy="498429"/>
              </a:xfrm>
              <a:prstGeom prst="rect">
                <a:avLst/>
              </a:prstGeom>
              <a:solidFill>
                <a:srgbClr val="C810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P</a:t>
                </a:r>
                <a:r>
                  <a:rPr kumimoji="1" lang="en-US" altLang="zh-Hant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186C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 200/16/46</a:t>
                </a:r>
              </a:p>
            </p:txBody>
          </p:sp>
          <p:sp>
            <p:nvSpPr>
              <p:cNvPr id="45" name="矩形 9">
                <a:extLst>
                  <a:ext uri="{FF2B5EF4-FFF2-40B4-BE49-F238E27FC236}">
                    <a16:creationId xmlns="" xmlns:a16="http://schemas.microsoft.com/office/drawing/2014/main" id="{992224C5-04A6-C041-B257-13137945DBB8}"/>
                  </a:ext>
                </a:extLst>
              </p:cNvPr>
              <p:cNvSpPr/>
              <p:nvPr userDrawn="1"/>
            </p:nvSpPr>
            <p:spPr>
              <a:xfrm>
                <a:off x="13288175" y="2401808"/>
                <a:ext cx="911019" cy="498429"/>
              </a:xfrm>
              <a:prstGeom prst="rect">
                <a:avLst/>
              </a:prstGeom>
              <a:solidFill>
                <a:srgbClr val="C7000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P</a:t>
                </a:r>
                <a:r>
                  <a:rPr kumimoji="1" lang="en-US" altLang="zh-Hant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185C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 199/0/11</a:t>
                </a:r>
              </a:p>
            </p:txBody>
          </p:sp>
          <p:sp>
            <p:nvSpPr>
              <p:cNvPr id="46" name="文本框 31">
                <a:extLst>
                  <a:ext uri="{FF2B5EF4-FFF2-40B4-BE49-F238E27FC236}">
                    <a16:creationId xmlns="" xmlns:a16="http://schemas.microsoft.com/office/drawing/2014/main" id="{58918196-0639-EE4B-AFC2-315BE04587B9}"/>
                  </a:ext>
                </a:extLst>
              </p:cNvPr>
              <p:cNvSpPr txBox="1"/>
              <p:nvPr userDrawn="1"/>
            </p:nvSpPr>
            <p:spPr>
              <a:xfrm>
                <a:off x="12326898" y="2207613"/>
                <a:ext cx="38472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品牌色</a:t>
                </a:r>
              </a:p>
            </p:txBody>
          </p:sp>
        </p:grpSp>
        <p:grpSp>
          <p:nvGrpSpPr>
            <p:cNvPr id="27" name="组合 26"/>
            <p:cNvGrpSpPr/>
            <p:nvPr userDrawn="1"/>
          </p:nvGrpSpPr>
          <p:grpSpPr>
            <a:xfrm>
              <a:off x="12216278" y="3080825"/>
              <a:ext cx="1982912" cy="3785795"/>
              <a:chOff x="12216278" y="3080825"/>
              <a:chExt cx="1982912" cy="3785795"/>
            </a:xfrm>
          </p:grpSpPr>
          <p:sp>
            <p:nvSpPr>
              <p:cNvPr id="28" name="矩形 12">
                <a:extLst>
                  <a:ext uri="{FF2B5EF4-FFF2-40B4-BE49-F238E27FC236}">
                    <a16:creationId xmlns="" xmlns:a16="http://schemas.microsoft.com/office/drawing/2014/main" id="{DCA8B73C-0B87-284F-805F-752EBF20B768}"/>
                  </a:ext>
                </a:extLst>
              </p:cNvPr>
              <p:cNvSpPr/>
              <p:nvPr userDrawn="1"/>
            </p:nvSpPr>
            <p:spPr>
              <a:xfrm>
                <a:off x="12315640" y="3785971"/>
                <a:ext cx="885201" cy="462672"/>
              </a:xfrm>
              <a:prstGeom prst="rect">
                <a:avLst/>
              </a:prstGeom>
              <a:solidFill>
                <a:srgbClr val="EA5A4F"/>
              </a:solidFill>
              <a:ln>
                <a:solidFill>
                  <a:srgbClr val="EA5A4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234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90/79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29" name="矩形 13">
                <a:extLst>
                  <a:ext uri="{FF2B5EF4-FFF2-40B4-BE49-F238E27FC236}">
                    <a16:creationId xmlns="" xmlns:a16="http://schemas.microsoft.com/office/drawing/2014/main" id="{138A39A8-BB4E-CD4E-9201-F1785C874F92}"/>
                  </a:ext>
                </a:extLst>
              </p:cNvPr>
              <p:cNvSpPr/>
              <p:nvPr userDrawn="1"/>
            </p:nvSpPr>
            <p:spPr>
              <a:xfrm>
                <a:off x="12315640" y="3259312"/>
                <a:ext cx="885201" cy="462672"/>
              </a:xfrm>
              <a:prstGeom prst="rect">
                <a:avLst/>
              </a:prstGeom>
              <a:solidFill>
                <a:srgbClr val="78000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120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0/15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0" name="文本框 15">
                <a:extLst>
                  <a:ext uri="{FF2B5EF4-FFF2-40B4-BE49-F238E27FC236}">
                    <a16:creationId xmlns="" xmlns:a16="http://schemas.microsoft.com/office/drawing/2014/main" id="{8F53C07A-1022-C740-8F8D-97538E174D38}"/>
                  </a:ext>
                </a:extLst>
              </p:cNvPr>
              <p:cNvSpPr txBox="1"/>
              <p:nvPr userDrawn="1"/>
            </p:nvSpPr>
            <p:spPr>
              <a:xfrm>
                <a:off x="12216278" y="3080825"/>
                <a:ext cx="569387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b" anchorCtr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辅助色</a:t>
                </a:r>
              </a:p>
            </p:txBody>
          </p:sp>
          <p:sp>
            <p:nvSpPr>
              <p:cNvPr id="31" name="矩形 16">
                <a:extLst>
                  <a:ext uri="{FF2B5EF4-FFF2-40B4-BE49-F238E27FC236}">
                    <a16:creationId xmlns="" xmlns:a16="http://schemas.microsoft.com/office/drawing/2014/main" id="{306A7598-C00D-994F-82DA-B39F3C2E0AAD}"/>
                  </a:ext>
                </a:extLst>
              </p:cNvPr>
              <p:cNvSpPr/>
              <p:nvPr userDrawn="1"/>
            </p:nvSpPr>
            <p:spPr>
              <a:xfrm>
                <a:off x="12315640" y="4836793"/>
                <a:ext cx="885201" cy="462672"/>
              </a:xfrm>
              <a:prstGeom prst="rect">
                <a:avLst/>
              </a:prstGeom>
              <a:solidFill>
                <a:srgbClr val="F8B53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248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181/60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2" name="矩形 17">
                <a:extLst>
                  <a:ext uri="{FF2B5EF4-FFF2-40B4-BE49-F238E27FC236}">
                    <a16:creationId xmlns="" xmlns:a16="http://schemas.microsoft.com/office/drawing/2014/main" id="{C1423292-FF2F-A74C-943E-1C3C47534098}"/>
                  </a:ext>
                </a:extLst>
              </p:cNvPr>
              <p:cNvSpPr/>
              <p:nvPr userDrawn="1"/>
            </p:nvSpPr>
            <p:spPr>
              <a:xfrm>
                <a:off x="12315640" y="4319278"/>
                <a:ext cx="885201" cy="462672"/>
              </a:xfrm>
              <a:prstGeom prst="rect">
                <a:avLst/>
              </a:prstGeom>
              <a:solidFill>
                <a:srgbClr val="EB5C0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235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92/1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3" name="矩形 18">
                <a:extLst>
                  <a:ext uri="{FF2B5EF4-FFF2-40B4-BE49-F238E27FC236}">
                    <a16:creationId xmlns="" xmlns:a16="http://schemas.microsoft.com/office/drawing/2014/main" id="{2A29AF15-F5C4-A842-A63B-5DBA549CB92F}"/>
                  </a:ext>
                </a:extLst>
              </p:cNvPr>
              <p:cNvSpPr/>
              <p:nvPr userDrawn="1"/>
            </p:nvSpPr>
            <p:spPr>
              <a:xfrm>
                <a:off x="12315636" y="5880294"/>
                <a:ext cx="911019" cy="462672"/>
              </a:xfrm>
              <a:prstGeom prst="rect">
                <a:avLst/>
              </a:prstGeom>
              <a:solidFill>
                <a:srgbClr val="89898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137/137/137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4" name="矩形 19">
                <a:extLst>
                  <a:ext uri="{FF2B5EF4-FFF2-40B4-BE49-F238E27FC236}">
                    <a16:creationId xmlns="" xmlns:a16="http://schemas.microsoft.com/office/drawing/2014/main" id="{E9EA970A-4D36-BC41-B8BE-40DF553320E7}"/>
                  </a:ext>
                </a:extLst>
              </p:cNvPr>
              <p:cNvSpPr/>
              <p:nvPr userDrawn="1"/>
            </p:nvSpPr>
            <p:spPr>
              <a:xfrm>
                <a:off x="12315636" y="5362779"/>
                <a:ext cx="911019" cy="462672"/>
              </a:xfrm>
              <a:prstGeom prst="rect">
                <a:avLst/>
              </a:prstGeom>
              <a:solidFill>
                <a:srgbClr val="23181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35/24/21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5" name="矩形 22">
                <a:extLst>
                  <a:ext uri="{FF2B5EF4-FFF2-40B4-BE49-F238E27FC236}">
                    <a16:creationId xmlns="" xmlns:a16="http://schemas.microsoft.com/office/drawing/2014/main" id="{14EE21FB-1D92-0241-ABA5-5E9A6AEE0DC8}"/>
                  </a:ext>
                </a:extLst>
              </p:cNvPr>
              <p:cNvSpPr/>
              <p:nvPr userDrawn="1"/>
            </p:nvSpPr>
            <p:spPr>
              <a:xfrm>
                <a:off x="12315636" y="6403948"/>
                <a:ext cx="911019" cy="462672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221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221/221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6" name="矩形 12">
                <a:extLst>
                  <a:ext uri="{FF2B5EF4-FFF2-40B4-BE49-F238E27FC236}">
                    <a16:creationId xmlns="" xmlns:a16="http://schemas.microsoft.com/office/drawing/2014/main" id="{883734A3-2645-434A-9DCC-1416B6C687CC}"/>
                  </a:ext>
                </a:extLst>
              </p:cNvPr>
              <p:cNvSpPr/>
              <p:nvPr userDrawn="1"/>
            </p:nvSpPr>
            <p:spPr>
              <a:xfrm>
                <a:off x="13288175" y="3785971"/>
                <a:ext cx="885201" cy="462672"/>
              </a:xfrm>
              <a:prstGeom prst="rect">
                <a:avLst/>
              </a:prstGeom>
              <a:solidFill>
                <a:srgbClr val="E98C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233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140/128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7" name="矩形 13">
                <a:extLst>
                  <a:ext uri="{FF2B5EF4-FFF2-40B4-BE49-F238E27FC236}">
                    <a16:creationId xmlns="" xmlns:a16="http://schemas.microsoft.com/office/drawing/2014/main" id="{1FF13552-FB3D-134A-A80A-6CFB35DFE1A1}"/>
                  </a:ext>
                </a:extLst>
              </p:cNvPr>
              <p:cNvSpPr/>
              <p:nvPr userDrawn="1"/>
            </p:nvSpPr>
            <p:spPr>
              <a:xfrm>
                <a:off x="13288175" y="3259312"/>
                <a:ext cx="885201" cy="462672"/>
              </a:xfrm>
              <a:prstGeom prst="rect">
                <a:avLst/>
              </a:prstGeom>
              <a:solidFill>
                <a:srgbClr val="A72126"/>
              </a:solidFill>
              <a:ln>
                <a:solidFill>
                  <a:srgbClr val="9F000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159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0/1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8" name="矩形 16">
                <a:extLst>
                  <a:ext uri="{FF2B5EF4-FFF2-40B4-BE49-F238E27FC236}">
                    <a16:creationId xmlns="" xmlns:a16="http://schemas.microsoft.com/office/drawing/2014/main" id="{0A96471B-CB12-1443-B01F-C14C9112C149}"/>
                  </a:ext>
                </a:extLst>
              </p:cNvPr>
              <p:cNvSpPr/>
              <p:nvPr userDrawn="1"/>
            </p:nvSpPr>
            <p:spPr>
              <a:xfrm>
                <a:off x="13288175" y="4836793"/>
                <a:ext cx="885201" cy="462672"/>
              </a:xfrm>
              <a:prstGeom prst="rect">
                <a:avLst/>
              </a:prstGeom>
              <a:solidFill>
                <a:srgbClr val="F5DC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245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220/87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9" name="矩形 17">
                <a:extLst>
                  <a:ext uri="{FF2B5EF4-FFF2-40B4-BE49-F238E27FC236}">
                    <a16:creationId xmlns="" xmlns:a16="http://schemas.microsoft.com/office/drawing/2014/main" id="{61890D59-CF8B-1449-A836-3A304EC9A907}"/>
                  </a:ext>
                </a:extLst>
              </p:cNvPr>
              <p:cNvSpPr/>
              <p:nvPr userDrawn="1"/>
            </p:nvSpPr>
            <p:spPr>
              <a:xfrm>
                <a:off x="13288175" y="4319278"/>
                <a:ext cx="885201" cy="462672"/>
              </a:xfrm>
              <a:prstGeom prst="rect">
                <a:avLst/>
              </a:prstGeom>
              <a:solidFill>
                <a:srgbClr val="F085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240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133/0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0" name="矩形 18">
                <a:extLst>
                  <a:ext uri="{FF2B5EF4-FFF2-40B4-BE49-F238E27FC236}">
                    <a16:creationId xmlns="" xmlns:a16="http://schemas.microsoft.com/office/drawing/2014/main" id="{0466A1E1-E7C7-FD49-9880-9E44BED19FF5}"/>
                  </a:ext>
                </a:extLst>
              </p:cNvPr>
              <p:cNvSpPr/>
              <p:nvPr userDrawn="1"/>
            </p:nvSpPr>
            <p:spPr>
              <a:xfrm>
                <a:off x="13288171" y="5880294"/>
                <a:ext cx="911019" cy="462672"/>
              </a:xfrm>
              <a:prstGeom prst="rect">
                <a:avLst/>
              </a:prstGeom>
              <a:solidFill>
                <a:srgbClr val="B5B5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181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181/181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2" name="矩形 19">
                <a:extLst>
                  <a:ext uri="{FF2B5EF4-FFF2-40B4-BE49-F238E27FC236}">
                    <a16:creationId xmlns="" xmlns:a16="http://schemas.microsoft.com/office/drawing/2014/main" id="{B21AD6AC-1275-0142-A9EA-D77B26CB40EF}"/>
                  </a:ext>
                </a:extLst>
              </p:cNvPr>
              <p:cNvSpPr/>
              <p:nvPr userDrawn="1"/>
            </p:nvSpPr>
            <p:spPr>
              <a:xfrm>
                <a:off x="13288171" y="5362779"/>
                <a:ext cx="911019" cy="462672"/>
              </a:xfrm>
              <a:prstGeom prst="rect">
                <a:avLst/>
              </a:prstGeom>
              <a:solidFill>
                <a:srgbClr val="5957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89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87/87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3" name="矩形 22">
                <a:extLst>
                  <a:ext uri="{FF2B5EF4-FFF2-40B4-BE49-F238E27FC236}">
                    <a16:creationId xmlns="" xmlns:a16="http://schemas.microsoft.com/office/drawing/2014/main" id="{238BAC2A-AE09-A84D-875D-8472236D6610}"/>
                  </a:ext>
                </a:extLst>
              </p:cNvPr>
              <p:cNvSpPr/>
              <p:nvPr userDrawn="1"/>
            </p:nvSpPr>
            <p:spPr>
              <a:xfrm>
                <a:off x="13288171" y="6403948"/>
                <a:ext cx="911019" cy="4626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255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255/255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90565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1" r:id="rId1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25" userDrawn="1">
          <p15:clr>
            <a:srgbClr val="F26B43"/>
          </p15:clr>
        </p15:guide>
        <p15:guide id="5" orient="horz" pos="410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145F1158-B1AA-8F41-AF0A-FEA0EC187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573" y="1474269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="" xmlns:a16="http://schemas.microsoft.com/office/drawing/2014/main" id="{F8FC7CCD-75EB-9C44-BC7D-29679334A8CA}"/>
              </a:ext>
            </a:extLst>
          </p:cNvPr>
          <p:cNvSpPr txBox="1">
            <a:spLocks/>
          </p:cNvSpPr>
          <p:nvPr userDrawn="1"/>
        </p:nvSpPr>
        <p:spPr>
          <a:xfrm>
            <a:off x="7979357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 smtClean="0">
                <a:solidFill>
                  <a:srgbClr val="1D1D1B"/>
                </a:solidFill>
                <a:latin typeface="+mj-lt"/>
              </a:rPr>
              <a:t>Copyright©2021 </a:t>
            </a: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r>
              <a:rPr kumimoji="1" lang="en-US" altLang="zh-CN" sz="779" dirty="0">
                <a:solidFill>
                  <a:srgbClr val="1D1D1B"/>
                </a:solidFill>
                <a:latin typeface="+mn-lt"/>
              </a:rPr>
              <a:t/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779" dirty="0">
                <a:solidFill>
                  <a:srgbClr val="1D1D1B"/>
                </a:solidFill>
                <a:latin typeface="+mn-lt"/>
              </a:rPr>
              <a:t/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79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6" name="Subtitle 6">
            <a:extLst>
              <a:ext uri="{FF2B5EF4-FFF2-40B4-BE49-F238E27FC236}">
                <a16:creationId xmlns="" xmlns:a16="http://schemas.microsoft.com/office/drawing/2014/main" id="{12B8F806-ABD5-064C-8793-5E22C72554FD}"/>
              </a:ext>
            </a:extLst>
          </p:cNvPr>
          <p:cNvSpPr txBox="1">
            <a:spLocks/>
          </p:cNvSpPr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1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把数字世界带入每个人、每个家庭、</a:t>
            </a:r>
            <a: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/>
            </a:r>
            <a:b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每个组织，构建万物互联的智能世界。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="" xmlns:a16="http://schemas.microsoft.com/office/drawing/2014/main" id="{F1235B6F-D691-2C40-93D4-EC5427ADDFB0}"/>
              </a:ext>
            </a:extLst>
          </p:cNvPr>
          <p:cNvSpPr txBox="1">
            <a:spLocks/>
          </p:cNvSpPr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4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home,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Microsoft YaHei" charset="-122"/>
              <a:cs typeface="Microsoft YaHei" charset="-122"/>
            </a:endParaRPr>
          </a:p>
        </p:txBody>
      </p:sp>
      <p:pic>
        <p:nvPicPr>
          <p:cNvPr id="99" name="图片 9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5497" y="5251150"/>
            <a:ext cx="1869596" cy="399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406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</p:titleStyle>
    <p:bodyStyle>
      <a:lvl1pPr marL="0" indent="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None/>
        <a:defRPr sz="1819" kern="1200">
          <a:solidFill>
            <a:srgbClr val="FFFFFF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1pPr>
      <a:lvl2pPr marL="593900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1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华为内部立项  ·  痛点驱动：多模态 · 多设备 · 多场景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AI 物理感知平台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Ingest 契约 → 共享表征 → predict() / classify()，不做场景应用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3464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1042416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三大痛点：多模态融合不足、多设备自适应困难、多任务多场景泛化弱。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平台对策：统一 patch token 表征 + 统一推理接口；底座可换，接口不变。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6052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416052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34340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痛点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5488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多模态 · 多设备 · 多场景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16052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416052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434340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接口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475488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Ingest schema + predict + classify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416052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19" y="416052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9" y="434340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演进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9" y="475488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零样本基线 → 千人千面 → Token 嵌入大模型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来源：TimesFM / UniTS / MOMENT / LIMU-BERT-X 公开资料  ·  11 页平台版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5943600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1  /  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09360"/>
            <a:ext cx="5486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Security Level: Internal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  业务痛点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三个痛点，一个根因：缺统一表征与统一接口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来自一线业务复盘；每个痛点都对应后文一类模型能力。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痛点一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多模态融合不足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25146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异构模态缺乏统一对齐。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/ EMG / TP 各自建模：量纲、采样率、时钟不一致；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跨模态信息互相看不见，融合靠人工拼特征。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痛点二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多设备自适应困难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423160"/>
            <a:ext cx="25146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基于单设备独立优化。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每款设备单独采数据、单独调参；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换机型、换佩戴位置就要重新标定，成本线性增长。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痛点三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多任务多场景泛化弱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23160"/>
            <a:ext cx="25146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算法针对特定场景设计。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一个场景一个模型；新场景重新标注、重新训练；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无法零样本启动，长尾场景覆盖不了。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根因：没有「统一表征 + 统一接口」的物理时序底座——这正是平台的定位。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业务痛点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2  / 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2  模型盘点 · 通用时序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通用时序基础模型：预测强，分类只有两家原生支持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口径：预训练目标决定原生能力；TimesFM / Chronos / Moirai 都只做预测。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2103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模型 / 出处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8648" y="1298448"/>
            <a:ext cx="2103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预训练目标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129844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原生能力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67928" y="1298448"/>
            <a:ext cx="10972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分类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93807" y="1298448"/>
            <a:ext cx="17373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许可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66420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1907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TimesFM-3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Google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171907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decoder-only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分位数回归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171907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多变量预测 + 协变量；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CPM 一次前向出 9 分位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171907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✗ 规则/加头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93807" y="171907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3.0 权重 NC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≤2.5 Apache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48716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54203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Chronos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Amazon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98648" y="254203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离散 token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T5 式 NTP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0368" y="254203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单变量概率预测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254203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7" y="254203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Apache-2.0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31012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36499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Moirai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Salesforce 2024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98648" y="336499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masked encoder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any-variate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0368" y="336499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多变量概率预测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336499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93807" y="336499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代码 Apache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权重 CC-BY-NC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13308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18795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UniTS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Harvard NeurIPS'24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98648" y="418795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任务 token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GEN/CLS 共享参数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30368" y="418795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预测+分类+填补+异常一体；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38 个数据集对比领先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67928" y="418795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✓ 原生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93807" y="418795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MIT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95604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01091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MOMENT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CMU ICML'24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98648" y="501091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掩码 patch 重建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T5 encoder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30368" y="501091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预测/分类/异常/填补；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linear probe 即用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67928" y="501091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✓ 探针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93807" y="501091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MIT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5806440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FF0F0"/>
          </a:solidFill>
          <a:ln w="9525"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5806440"/>
            <a:ext cx="73152" cy="6400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  ·  预测底座选 TimesFM-3（多变量+协变量最强）；原生分类只有 UniTS / MOMENT——这正是双头设计的来源。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模型盘点    |    Security Level: Internal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3  / 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3  模型盘点 · 物理传感器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IMU / EMG 专用模型：提供领域先验，不当平台底座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传感器模型规模小、端侧导向；与通用底座互补，不替代。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模型 / 出处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0088" y="1298448"/>
            <a:ext cx="2834639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数据 / 预训练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3328" y="1298448"/>
            <a:ext cx="38404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能力亮点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22407" y="1298448"/>
            <a:ext cx="1508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部署 / 许可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6459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682496"/>
            <a:ext cx="2194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LIMU-BERT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SenSys'21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0088" y="16824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三轴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掩码预训练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16824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端侧 HAR 开山作；小样本迁移到手机 / 腕戴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22407" y="16824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手机可部署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3317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368296"/>
            <a:ext cx="2194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LIMU-BERT-X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MobiCom'25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088" y="23682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143 万小时 · 6 万人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1.1K 种机型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3328" y="23682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真实设备大规模泛化；端侧 HAR SOTA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22407" y="23682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端侧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0175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054096"/>
            <a:ext cx="2194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TartanIMU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CVPR'25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90088" y="30540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跨机器人 IMU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位姿基础模型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53328" y="30540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LoRA 仅 1.1M 参数即适配新机；200 FPS 在线推理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22407" y="30540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机器人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7033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739896"/>
            <a:ext cx="2194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PRIMUS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ICASSP'25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90088" y="37398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多模态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自监督对齐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53328" y="37398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对齐预训练，提升下游 HAR / 健康任务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22407" y="37398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研究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3891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4425696"/>
            <a:ext cx="2194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Babel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SenSys'25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90088" y="44256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6 模态对齐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塔 = LIMU-BERT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53328" y="44256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多模态人体感知表征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22407" y="44256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研究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0749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111496"/>
            <a:ext cx="2194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Meta EMG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Nature'25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90088" y="51114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sEMG 腕带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跨用户泛化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53328" y="51114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0.88 手势/s；手写 20.9 WPM；个性化再 +16%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22407" y="51114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腕带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CC-BY-NC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806440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FF0F0"/>
          </a:solidFill>
          <a:ln w="9525"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806440"/>
            <a:ext cx="73152" cy="6400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  ·  平台用 LIMU-BERT-X 初始化 IMU 变元、用 Meta EMG 作 EMG 对照；底座仍是通用模型。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模型盘点    |    Security Level: Internal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4  / 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4  痛点 → 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每个痛点对应一类已验证的模型能力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平台不做场景：只把模型能力收敛成 Ingest → 表征 → predict / classify。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91440" cy="1115568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499616"/>
            <a:ext cx="25603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多模态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融合不足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481328"/>
            <a:ext cx="80467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统一 patch token + 变元注意力：TimesFM-3 变元注意力、UniTS 任务 token；Babel 6 模态对齐作参照。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Ingest 契约统一时钟、量纲、质量位——对齐在进模型前完成。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06040"/>
            <a:ext cx="1124712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6040"/>
            <a:ext cx="91440" cy="1115568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734056"/>
            <a:ext cx="25603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多设备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自适应困难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715768"/>
            <a:ext cx="80467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跨设备预训练先验：LIMU-BERT-X 覆盖 1.1K 机型、6 万人；Meta EMG 跨用户泛化。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RevIN 实例归一 + LoRA 轻适配（TartanIMU 仅 1.1M 参数即适配新设备）。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80"/>
            <a:ext cx="1124712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91440" cy="1115568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968496"/>
            <a:ext cx="25603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多任务多场景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泛化弱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950208"/>
            <a:ext cx="80467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零样本基座：TimesFM-3 零样本预测；UniTS 零样本多任务（预测/分类/填补/异常）。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统一 predict / classify 接口，新场景先零样本启动，再按需微调。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66360"/>
            <a:ext cx="11247120" cy="77724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85232"/>
            <a:ext cx="1088136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平台边界：交付 Ingest 校验、共享表征、predict() / classify()、评测工具链；不交付场景 Pack、整机、芯片。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痛点→方案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5  / 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5  接口定义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Ingest 契约 + predict() + classify()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所有输入先过 Ingest；预测与分类共用同一批 patch token。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471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08813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Ingest(schema) → 校验 → patch token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108813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schema = {series_id, timestamp, value, unit, quality_flag, variate_role: target/past-only/past-future}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校验：时钟对齐、量纲归一、质量位过滤、变元上限 32、context ≤ 15,360。不合格直接拒收。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383280"/>
            <a:ext cx="55778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383280"/>
            <a:ext cx="5577840" cy="73152"/>
          </a:xfrm>
          <a:prstGeom prst="rect">
            <a:avLst/>
          </a:prstGeom>
          <a:solidFill>
            <a:srgbClr val="62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predict(context, horizon) → {quantiles, point}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69080"/>
            <a:ext cx="52120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quantiles: (V, H, 9) 十分位轨迹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point: (V, H) 中位数 q50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一次前向，CPM 非自回归；可 stitching 任意 H。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383280"/>
            <a:ext cx="54864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383280"/>
            <a:ext cx="548640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11880"/>
            <a:ext cx="5120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classify(window) → {label, confidence}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069080"/>
            <a:ext cx="512064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label: 场景方注册的类别 id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confidence: softmax 概率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基于共享表征 + 任务 token / linear probe。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接口    |    Security Level: Internal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6  / 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6  预测实现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TimesFM-3 式：CPM 一次前向出 9 分位数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预测是平台原生能力；接口固定，底座可换。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50876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87452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context ≤ 15,360；变元 ≤ 32；target / past-only / past-future。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4808" y="150876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特征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187452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pad32 → 去趋势 → RevIN → patch 192 → ResidualBlock → 1280 token。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8892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92608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表征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29184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20 × MixingTransformer：因果时间注意力 + 变元注意力 + FFN。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78892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92608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输出头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329184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Linear 1280→64×9；CPM mask horizon；逆 RevIN；stitching 任意 H。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20624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34340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读出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70916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点预测 q50；概率区间 q10–q90；MAE + 覆盖率评测。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20624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434340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替换点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470916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底座换 TimesFM-4 / 自研时，predict() 签名与返回结构不变。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预测    |    Security Level: Internal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7  / 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7  分类实现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共享表征 + 任务 token / linear probe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分类不是 TimesFM 内建；平台用 UniTS / MOMENT 方式补。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57784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77840" cy="73152"/>
          </a:xfrm>
          <a:prstGeom prst="rect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路 A  规则下游（零样本，示意）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521208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历史段：去趋势残差 z-score。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|z|≥3 CRITICAL，≥2 WARNING，否则 NORMAL。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未来段：观测是否落在 q10–q90 / q20–q80 外。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不改权重，不能注册新类别，只能做异常示意。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48640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548640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路 B  可学习分类（平台接口）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103120"/>
            <a:ext cx="512064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UniTS：任务 token 把预测 / 分类 / 填补 / 异常收进同一套参数。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MOMENT：掩码预训练编码器 + linear probe / 分类头。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LIMU-BERT-X：IMU 掩码预训练，直接初始化 IMU 变元。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场景方注册类别 → 平台微调 classify() → 返回 label + confidence。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分类    |    Security Level: Internal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8  / 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8  代际演进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Gen1 零样本基线 → Gen2 千人千面 → Gen3 Token 嵌入大模型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接口不变，能力逐代升级；每代回答一个业务问题。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Gen1  零样本基线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预训练底座直接上岗。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predict 零样本（TimesFM-3）；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classify 规则 / linear probe（UniTS / MOMENT）。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回答：底座行不行 → 统一评测基线。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Gen2  千人千面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轻量适配到每设备、每用户。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LoRA / prompt tuning：TartanIMU 仅 1.1M 参数；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Meta EMG 个性化后再 +16%。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回答：换设备换人还行不行 → 画像进 schema。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Gen3  Token 嵌入大模型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物理 patch token 作为新模态注入大模型。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 + 分类变成大模型的原生能力；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平台从「提供模型」变成「提供 token 与接口」。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回答：物理感知如何进入统一智能。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演进原则：接口（Ingest / predict / classify）向下兼容；底座、权重、头可独立替换。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代际演进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9  / 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9  评测与许可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同一接口，同一评测，不同底座可对比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平台提供统一评测工具链；许可边界随底座变化。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57784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77840" cy="73152"/>
          </a:xfrm>
          <a:prstGeom prst="rect">
            <a:avLst/>
          </a:prstGeom>
          <a:solidFill>
            <a:srgbClr val="62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评测接口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521208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predict：MAE、q10–q90 覆盖率、stitching 长 horizon 稳定性。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classify：macro-F1、confusion matrix、注册类别一致性。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底座对比：同一批数据，同一接口，换底座重跑。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48640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548640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许可边界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103120"/>
            <a:ext cx="512064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TimesFM-3 权重：NC，商用必须自训底座。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TimesFM ≤ 2.5：Apache-2.0，可商用。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UniTS / MOMENT：MIT，可商用。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Moirai 权重 / Meta EMG：CC-BY-NC，仅研究。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平台不绑定任何 NC 权重；接口层与许可层解耦。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评测与许可    |    Security Level: Internal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10  / 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平台交付接口与工具链，不交付场景语义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痛点驱动：统一表征 + 统一接口；底座可换，代际演进向下兼容。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98448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98448"/>
            <a:ext cx="14630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痛点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298448"/>
            <a:ext cx="92354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多模态融合不足、多设备自适应困难、多任务泛化弱 → 统一表征 + 统一接口。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93391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993391"/>
            <a:ext cx="14630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接口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1993391"/>
            <a:ext cx="92354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Ingest schema + predict() + classify()；版本化，向下兼容。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88336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88336"/>
            <a:ext cx="14630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预测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2688336"/>
            <a:ext cx="92354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TimesFM-3 式 CPM 一次前向；点预测 q50；评测 MAE + 覆盖率。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38328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383280"/>
            <a:ext cx="14630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分类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3383280"/>
            <a:ext cx="92354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UniTS 任务 token / MOMENT linear probe；场景方注册类别，平台微调。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078224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078224"/>
            <a:ext cx="14630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演进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4078224"/>
            <a:ext cx="92354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零样本基线 → 千人千面 → Token 嵌入大模型；接口不变。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773168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773168"/>
            <a:ext cx="14630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许可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4773168"/>
            <a:ext cx="92354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3.0 权重 NC；≤2.5 Apache；UniTS / MOMENT MIT；平台层与许可层解耦。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468112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468112"/>
            <a:ext cx="14630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不做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5468112"/>
            <a:ext cx="92354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场景 Pack、整机、芯片、自建大模型、世界视频、把 TimesFM 当分类模型宣传。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决策    |    Security Level: Internal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11  / 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Title Slid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575756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FC2917F5-FC52-4782-A0FF-AE2013F589C8}"/>
    </a:ext>
  </a:extLst>
</a:theme>
</file>

<file path=ppt/theme/theme2.xml><?xml version="1.0" encoding="utf-8"?>
<a:theme xmlns:a="http://schemas.openxmlformats.org/drawingml/2006/main" name="Chart page">
  <a:themeElements>
    <a:clrScheme name="updated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C8102E"/>
      </a:accent2>
      <a:accent3>
        <a:srgbClr val="EA594F"/>
      </a:accent3>
      <a:accent4>
        <a:srgbClr val="F8B53C"/>
      </a:accent4>
      <a:accent5>
        <a:srgbClr val="231815"/>
      </a:accent5>
      <a:accent6>
        <a:srgbClr val="595757"/>
      </a:accent6>
      <a:hlink>
        <a:srgbClr val="898989"/>
      </a:hlink>
      <a:folHlink>
        <a:srgbClr val="B5B5B5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C7000B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1800" dirty="0" smtClean="0">
            <a:solidFill>
              <a:schemeClr val="accent2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25829FED-7996-4B48-8C44-EBA668E4F8ED}"/>
    </a:ext>
  </a:extLst>
</a:theme>
</file>

<file path=ppt/theme/theme3.xml><?xml version="1.0" encoding="utf-8"?>
<a:theme xmlns:a="http://schemas.openxmlformats.org/drawingml/2006/main" name="4_Chart page">
  <a:themeElements>
    <a:clrScheme name="Custom 29">
      <a:dk1>
        <a:srgbClr val="1D1D1A"/>
      </a:dk1>
      <a:lt1>
        <a:srgbClr val="666666"/>
      </a:lt1>
      <a:dk2>
        <a:srgbClr val="FFFFFF"/>
      </a:dk2>
      <a:lt2>
        <a:srgbClr val="EBEBEB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lnSpc>
            <a:spcPts val="3440"/>
          </a:lnSpc>
          <a:defRPr sz="3200" dirty="0" smtClean="0"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6DF1AB71-8E54-4DA3-96CA-45CA365BFE54}"/>
    </a:ext>
  </a:extLst>
</a:theme>
</file>

<file path=ppt/theme/theme4.xml><?xml version="1.0" encoding="utf-8"?>
<a:theme xmlns:a="http://schemas.openxmlformats.org/drawingml/2006/main" name="End pag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8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1AA013AF-7C2E-4A39-9796-86760F640C19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MWC 19-PPT模板-白底 16比9</Template>
  <TotalTime>88</TotalTime>
  <Words>55</Words>
  <Application>Microsoft Office PowerPoint</Application>
  <PresentationFormat>自定义</PresentationFormat>
  <Paragraphs>49</Paragraphs>
  <Slides>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5</vt:i4>
      </vt:variant>
    </vt:vector>
  </HeadingPairs>
  <TitlesOfParts>
    <vt:vector size="14" baseType="lpstr">
      <vt:lpstr>黑体</vt:lpstr>
      <vt:lpstr>Microsoft YaHei</vt:lpstr>
      <vt:lpstr>Arial</vt:lpstr>
      <vt:lpstr>Calibri</vt:lpstr>
      <vt:lpstr>Calibri Light</vt:lpstr>
      <vt:lpstr>1_Title Slide</vt:lpstr>
      <vt:lpstr>Chart page</vt:lpstr>
      <vt:lpstr>4_Chart page</vt:lpstr>
      <vt:lpstr>End page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Huawei Technologies Co.,Ltd.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AutoBVT</dc:creator>
  <cp:lastModifiedBy>Hanke (A)</cp:lastModifiedBy>
  <cp:revision>11</cp:revision>
  <dcterms:created xsi:type="dcterms:W3CDTF">2018-12-05T07:23:25Z</dcterms:created>
  <dcterms:modified xsi:type="dcterms:W3CDTF">2021-01-28T09:59:27Z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(3)9K7MhttPmctKTlAepJVghc5jVCKqhwlg3WUynTcyZRlAqvXwyh4Oh5MUn/S1qsRekxYaSjf0
xAMb+XIVmiFW19LQ5rzY8SxUDMVg4vj7tzi0SPjrpQaZEh2i7Q63wUANwPymQ9KhvkOpupId
8g/WiPz/3mo9lw2+u0HERtEEQOFSNHxTfxkHcxU8CosEcorCYU1bf3Ron8rzicflycNnYO6T
HSqLQgGez4SDJnplgK</vt:lpwstr>
  </property>
  <property fmtid="{D5CDD505-2E9C-101B-9397-08002B2CF9AE}" pid="3" name="_2015_ms_pID_7253431">
    <vt:lpwstr>82SGjRTEfRs+Omq1PLLlyH6r/NUeGWJLUTXD4xX4AdBDIbA5M3xGE1
FJDhGJWv+ZwJEBjSUU7vQG7pD9Re+jwOMeH8KvtBR51uSvL8QqKWID096WZ7sSv/LL5pae3t
XPEALNuJBpV72sbxfdY4icFZGPfj4727kRAWuT9uG/4Al1hW+8FJdNQ/J9I8uxSoEyoyJ96g
hvAj6RniZYqx1mFTVrh3xskdX0KPyR3xTPNI</vt:lpwstr>
  </property>
  <property fmtid="{D5CDD505-2E9C-101B-9397-08002B2CF9AE}" pid="4" name="_2015_ms_pID_7253432">
    <vt:lpwstr>zr4dAB7xmHqg7+bcC24Pv9M=</vt:lpwstr>
  </property>
  <property fmtid="{D5CDD505-2E9C-101B-9397-08002B2CF9AE}" pid="5" name="_readonly">
    <vt:lpwstr/>
  </property>
  <property fmtid="{D5CDD505-2E9C-101B-9397-08002B2CF9AE}" pid="6" name="_change">
    <vt:lpwstr/>
  </property>
  <property fmtid="{D5CDD505-2E9C-101B-9397-08002B2CF9AE}" pid="7" name="_full-control">
    <vt:lpwstr/>
  </property>
  <property fmtid="{D5CDD505-2E9C-101B-9397-08002B2CF9AE}" pid="8" name="sflag">
    <vt:lpwstr>1575429571</vt:lpwstr>
  </property>
</Properties>
</file>