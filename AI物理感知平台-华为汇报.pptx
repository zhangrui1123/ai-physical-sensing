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91"/>
  </p:normalViewPr>
  <p:slideViewPr>
    <p:cSldViewPr snapToGrid="0" snapToObjects="1">
      <p:cViewPr varScale="1">
        <p:scale>
          <a:sx n="88" d="100"/>
          <a:sy n="88" d="100"/>
        </p:scale>
        <p:origin x="46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=""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03596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4759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/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4998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="" xmlns:a16="http://schemas.microsoft.com/office/drawing/2014/main" id="{E2C11B17-3CC6-445B-AC71-74F18E4B41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/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>
            <a:extLst>
              <a:ext uri="{FF2B5EF4-FFF2-40B4-BE49-F238E27FC236}">
                <a16:creationId xmlns="" xmlns:a16="http://schemas.microsoft.com/office/drawing/2014/main" id="{D9C13A00-1073-4DDB-80E9-154875087B13}"/>
              </a:ext>
            </a:extLst>
          </p:cNvPr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>
            <a:extLst>
              <a:ext uri="{FF2B5EF4-FFF2-40B4-BE49-F238E27FC236}">
                <a16:creationId xmlns="" xmlns:a16="http://schemas.microsoft.com/office/drawing/2014/main" id="{C897A368-8F39-4049-9BB0-AEB315EB7E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2621051-E1A4-A049-BF21-61B18B348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9749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=""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=""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=""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6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168422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73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2pPr>
            <a:lvl3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84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2AF307D-40F4-EC4C-9108-79E948007529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Relationship Id="rId3" Type="http://schemas.openxmlformats.org/officeDocument/2006/relationships/image" Target="../media/image6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4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="" xmlns:a16="http://schemas.microsoft.com/office/drawing/2014/main" id="{AF72FAD7-C8C3-754A-A498-D3A7EC29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7" r:id="rId3"/>
    <p:sldLayoutId id="2147483822" r:id="rId4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59" userDrawn="1">
          <p15:clr>
            <a:srgbClr val="F26B43"/>
          </p15:clr>
        </p15:guide>
        <p15:guide id="2" pos="3841" userDrawn="1">
          <p15:clr>
            <a:srgbClr val="F26B43"/>
          </p15:clr>
        </p15:guide>
        <p15:guide id="3" pos="565" userDrawn="1">
          <p15:clr>
            <a:srgbClr val="F26B43"/>
          </p15:clr>
        </p15:guide>
        <p15:guide id="4" orient="horz" pos="4007" userDrawn="1">
          <p15:clr>
            <a:srgbClr val="F26B43"/>
          </p15:clr>
        </p15:guide>
        <p15:guide id="5" orient="horz" pos="1235" userDrawn="1">
          <p15:clr>
            <a:srgbClr val="F26B43"/>
          </p15:clr>
        </p15:guide>
        <p15:guide id="6" orient="horz" pos="55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4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74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74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>
                <a:extLst>
                  <a:ext uri="{FF2B5EF4-FFF2-40B4-BE49-F238E27FC236}">
                    <a16:creationId xmlns="" xmlns:a16="http://schemas.microsoft.com/office/drawing/2014/main" id="{3B0B5EC2-EA55-CC45-A9D0-D5EA5D768C99}"/>
                  </a:ext>
                </a:extLst>
              </p:cNvPr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200/16/46</a:t>
                </a:r>
              </a:p>
            </p:txBody>
          </p:sp>
          <p:sp>
            <p:nvSpPr>
              <p:cNvPr id="45" name="矩形 9">
                <a:extLst>
                  <a:ext uri="{FF2B5EF4-FFF2-40B4-BE49-F238E27FC236}">
                    <a16:creationId xmlns="" xmlns:a16="http://schemas.microsoft.com/office/drawing/2014/main" id="{992224C5-04A6-C041-B257-13137945DBB8}"/>
                  </a:ext>
                </a:extLst>
              </p:cNvPr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199/0/11</a:t>
                </a:r>
              </a:p>
            </p:txBody>
          </p:sp>
          <p:sp>
            <p:nvSpPr>
              <p:cNvPr id="46" name="文本框 31">
                <a:extLst>
                  <a:ext uri="{FF2B5EF4-FFF2-40B4-BE49-F238E27FC236}">
                    <a16:creationId xmlns="" xmlns:a16="http://schemas.microsoft.com/office/drawing/2014/main" id="{58918196-0639-EE4B-AFC2-315BE04587B9}"/>
                  </a:ext>
                </a:extLst>
              </p:cNvPr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>
                <a:extLst>
                  <a:ext uri="{FF2B5EF4-FFF2-40B4-BE49-F238E27FC236}">
                    <a16:creationId xmlns="" xmlns:a16="http://schemas.microsoft.com/office/drawing/2014/main" id="{DCA8B73C-0B87-284F-805F-752EBF20B768}"/>
                  </a:ext>
                </a:extLst>
              </p:cNvPr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234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90/79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29" name="矩形 13">
                <a:extLst>
                  <a:ext uri="{FF2B5EF4-FFF2-40B4-BE49-F238E27FC236}">
                    <a16:creationId xmlns="" xmlns:a16="http://schemas.microsoft.com/office/drawing/2014/main" id="{138A39A8-BB4E-CD4E-9201-F1785C874F92}"/>
                  </a:ext>
                </a:extLst>
              </p:cNvPr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120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0/15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0" name="文本框 15">
                <a:extLst>
                  <a:ext uri="{FF2B5EF4-FFF2-40B4-BE49-F238E27FC236}">
                    <a16:creationId xmlns="" xmlns:a16="http://schemas.microsoft.com/office/drawing/2014/main" id="{8F53C07A-1022-C740-8F8D-97538E174D38}"/>
                  </a:ext>
                </a:extLst>
              </p:cNvPr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>
                <a:extLst>
                  <a:ext uri="{FF2B5EF4-FFF2-40B4-BE49-F238E27FC236}">
                    <a16:creationId xmlns="" xmlns:a16="http://schemas.microsoft.com/office/drawing/2014/main" id="{306A7598-C00D-994F-82DA-B39F3C2E0AAD}"/>
                  </a:ext>
                </a:extLst>
              </p:cNvPr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248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181/60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2" name="矩形 17">
                <a:extLst>
                  <a:ext uri="{FF2B5EF4-FFF2-40B4-BE49-F238E27FC236}">
                    <a16:creationId xmlns="" xmlns:a16="http://schemas.microsoft.com/office/drawing/2014/main" id="{C1423292-FF2F-A74C-943E-1C3C47534098}"/>
                  </a:ext>
                </a:extLst>
              </p:cNvPr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235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92/1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3" name="矩形 18">
                <a:extLst>
                  <a:ext uri="{FF2B5EF4-FFF2-40B4-BE49-F238E27FC236}">
                    <a16:creationId xmlns="" xmlns:a16="http://schemas.microsoft.com/office/drawing/2014/main" id="{2A29AF15-F5C4-A842-A63B-5DBA549CB92F}"/>
                  </a:ext>
                </a:extLst>
              </p:cNvPr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137/137/137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矩形 19">
                <a:extLst>
                  <a:ext uri="{FF2B5EF4-FFF2-40B4-BE49-F238E27FC236}">
                    <a16:creationId xmlns="" xmlns:a16="http://schemas.microsoft.com/office/drawing/2014/main" id="{E9EA970A-4D36-BC41-B8BE-40DF553320E7}"/>
                  </a:ext>
                </a:extLst>
              </p:cNvPr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35/24/21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5" name="矩形 22">
                <a:extLst>
                  <a:ext uri="{FF2B5EF4-FFF2-40B4-BE49-F238E27FC236}">
                    <a16:creationId xmlns="" xmlns:a16="http://schemas.microsoft.com/office/drawing/2014/main" id="{14EE21FB-1D92-0241-ABA5-5E9A6AEE0DC8}"/>
                  </a:ext>
                </a:extLst>
              </p:cNvPr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221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221/221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6" name="矩形 12">
                <a:extLst>
                  <a:ext uri="{FF2B5EF4-FFF2-40B4-BE49-F238E27FC236}">
                    <a16:creationId xmlns="" xmlns:a16="http://schemas.microsoft.com/office/drawing/2014/main" id="{883734A3-2645-434A-9DCC-1416B6C687CC}"/>
                  </a:ext>
                </a:extLst>
              </p:cNvPr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233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140/128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7" name="矩形 13">
                <a:extLst>
                  <a:ext uri="{FF2B5EF4-FFF2-40B4-BE49-F238E27FC236}">
                    <a16:creationId xmlns="" xmlns:a16="http://schemas.microsoft.com/office/drawing/2014/main" id="{1FF13552-FB3D-134A-A80A-6CFB35DFE1A1}"/>
                  </a:ext>
                </a:extLst>
              </p:cNvPr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159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8" name="矩形 16">
                <a:extLst>
                  <a:ext uri="{FF2B5EF4-FFF2-40B4-BE49-F238E27FC236}">
                    <a16:creationId xmlns="" xmlns:a16="http://schemas.microsoft.com/office/drawing/2014/main" id="{0A96471B-CB12-1443-B01F-C14C9112C149}"/>
                  </a:ext>
                </a:extLst>
              </p:cNvPr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245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220/87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9" name="矩形 17">
                <a:extLst>
                  <a:ext uri="{FF2B5EF4-FFF2-40B4-BE49-F238E27FC236}">
                    <a16:creationId xmlns="" xmlns:a16="http://schemas.microsoft.com/office/drawing/2014/main" id="{61890D59-CF8B-1449-A836-3A304EC9A907}"/>
                  </a:ext>
                </a:extLst>
              </p:cNvPr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133/0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0" name="矩形 18">
                <a:extLst>
                  <a:ext uri="{FF2B5EF4-FFF2-40B4-BE49-F238E27FC236}">
                    <a16:creationId xmlns="" xmlns:a16="http://schemas.microsoft.com/office/drawing/2014/main" id="{0466A1E1-E7C7-FD49-9880-9E44BED19FF5}"/>
                  </a:ext>
                </a:extLst>
              </p:cNvPr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181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181/181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2" name="矩形 19">
                <a:extLst>
                  <a:ext uri="{FF2B5EF4-FFF2-40B4-BE49-F238E27FC236}">
                    <a16:creationId xmlns="" xmlns:a16="http://schemas.microsoft.com/office/drawing/2014/main" id="{B21AD6AC-1275-0142-A9EA-D77B26CB40EF}"/>
                  </a:ext>
                </a:extLst>
              </p:cNvPr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89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87/87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3" name="矩形 22">
                <a:extLst>
                  <a:ext uri="{FF2B5EF4-FFF2-40B4-BE49-F238E27FC236}">
                    <a16:creationId xmlns="" xmlns:a16="http://schemas.microsoft.com/office/drawing/2014/main" id="{238BAC2A-AE09-A84D-875D-8472236D6610}"/>
                  </a:ext>
                </a:extLst>
              </p:cNvPr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255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255/255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=""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 smtClean="0">
                <a:solidFill>
                  <a:srgbClr val="1D1D1B"/>
                </a:solidFill>
                <a:latin typeface="+mj-lt"/>
              </a:rPr>
              <a:t>Copyright©2021 </a:t>
            </a: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=""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/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=""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1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华为内部立项  ·  痛点驱动：多模态 · 多设备 · 多场景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 → 共享特征 → 预测 / 分类双接口，不做场景应用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10881360" cy="13258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44368"/>
            <a:ext cx="1042416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三大痛点：多模态融合不足、多设备自适应困难、多任务多场景泛化弱。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平台对策：统一 patch token 特征 + 统一推理接口；底座可换，接口不变。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首批接入特性：手机智感握姿、手表手势识别（敲一敲 / 划一划）。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34340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98848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9204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多模态 · 多设备 · 多场景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34340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498848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89204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 + 分类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4343400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434340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4498848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489204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零样本基线 → 千人千面 → Token 嵌入大模型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来源：TimesFM / UniTS / MOMENT / LIMU-BERT-X 公开资料  ·  12 页平台版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9436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  / 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Security Level: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  业务痛点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三个痛点，一个根因：缺统一特征与统一接口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以智感握姿、手表手势两个现网特性为镜；每个痛点都对应后文一类模型能力。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痛点一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智感握姿靠电容阵列 + IMU + 接近光启发式拼接；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手表 X-TAP（PPG / ECG / 触摸）与 IMU 各自为政。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异构模态缺统一对齐，融合靠人工拼特征。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痛点二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握姿仅支持部分机型（不支持直接返回 801）；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保护壳 &gt; 3mm、戴手套精度即掉；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WATCH 3 与 WATCH 5 手势集不通用——每机型单独标定。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痛点三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跑步 / 骑行 / 高尔夫 / 滑雪下手表手势失效；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纹身、汗水、油腻场景识别率骤降；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新场景重新标注训练，无法零样本启动。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根因：没有「统一特征 + 统一接口」的物理时序底座——这正是平台的定位。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业务痛点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2  模型盘点 · 通用时序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通用时序基础模型：预测强，分类只有两家原生支持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口径：预训练目标决定原生能力；TimesFM / Chronos / Moirai 都只做预测。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预训练目标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129844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原生能力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7928" y="1298448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3807" y="1298448"/>
            <a:ext cx="1737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6420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0078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TimesFM-3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 / 3.0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71907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decoder-only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171907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多变量预测 + 协变量；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CPM 一次前向出 9 分位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171907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 规则/加头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3807" y="171907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3.0 权重 NC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≤2.5 Apache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48716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2374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Chronos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Amazon Science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254203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离散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式 NTP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54203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单变量概率预测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254203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7" y="254203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Apache-2.0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1012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34670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Moirai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Salesforce AI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648" y="336499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masked encoder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any-variate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36499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多变量概率预测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36499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7" y="336499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代码 Apache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权重 CC-BY-NC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13308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16966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UniTS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Harvard + MIT Lincoln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NeurIPS'24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418795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任务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GEN/CLS 共享参数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0368" y="418795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预测+分类+填补+异常一体；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38 个数据集对比领先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418795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原生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7" y="418795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95604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499262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MOMENT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Auton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98648" y="501091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 patch 重建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encoder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501091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预测/分类/异常/填补；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线性探针即用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7928" y="501091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探针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7" y="501091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预测底座选 TimesFM-3（多变量+协变量最强）；原生分类只有 UniTS / MOMENT——这正是双头设计的来源。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3  模型盘点 · 物理传感器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IMU / EMG 专用模型：提供领域先验，不当平台底座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传感器模型规模小、端侧导向；与通用底座互补，不替代。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8" y="1298448"/>
            <a:ext cx="2834639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数据 / 预训练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1298448"/>
            <a:ext cx="3840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能力亮点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22407" y="1298448"/>
            <a:ext cx="1508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部署 / 许可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673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南洋理工+阿里巴巴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SenSys'21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682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三轴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掩码预训练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682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HAR 开山作；小样本迁移到手机 / 腕戴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2407" y="1682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手机可部署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3317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591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LIMU-BERT-X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港科大+阿里巴巴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MobiCom'25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3682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 · 6 万人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1.1K 种机型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3328" y="23682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真实设备大规模泛化；端侧 HAR SOTA；外卖配送全国部署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22407" y="23682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175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0449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TartanIMU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AirLab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CVPR'25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30540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跨机器人 IMU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位姿基础模型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30540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仅 1.1M 参数即适配新机；200 FPS 在线推理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7" y="30540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机器人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033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7307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PRIMUS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Nokia Bell Labs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+华盛顿大学 ICASSP'25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0088" y="37398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多模态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自监督对齐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53328" y="37398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对齐预训练，提升下游 HAR / 健康任务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22407" y="37398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3891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4165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Babel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微软研究院+威斯康星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麦迪逊+港科大 SenSys'25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0088" y="44256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6 模态对齐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塔 = LIMU-BERT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44256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多模态人体感知特征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22407" y="44256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074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102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 EMG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Nature'25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90088" y="5111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3328" y="5111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0.88 手势/s；手写 20.9 WPM；个性化再 +16%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22407" y="5111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CC-BY-NC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平台用 LIMU-BERT-X 初始化 IMU 变元、用 Meta EMG 作 EMG 对照；底座仍是通用模型。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4  TOP3 研究团队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物理感知方向最值得对标的三支队伍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选型口径：有基础模型、有真实数据、有产业部署。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 系列（1.0 → 3.0）。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通用时序预测标杆：fev-bench / TIME / GIFT-Eval 三榜第一。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平台预测底座的来源。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Mo Li 团队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港科大/南洋理工 + 阿里巴巴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LIMU-BERT（SenSys'21 最佳论文提名）→ LIMU-BERT-X（MobiCom'25）→ Babel（SenSys'25）。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万小时真实数据；外卖配送全国部署。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传感器基础模型从论文走到产业。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Meta Reality 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神经腕带（Nature'25）。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跨用户泛化：0.88 手势/s、手写 20.9 WPM。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已随 Ray-Ban Display 出货——唯一规模商用的 EMG 接口。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跟踪名单：CMU（MOMENT + TartanIMU）、Harvard + MIT 林肯实验室（UniTS）、Nokia Bell Labs（PRIMUS）、微软研究院（Babel）。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TOP3 团队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5  TOP3 商用场景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首批落地：智感握姿 + 手表手势，再向外延展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平台只提供接入 / 预测 / 分类接口；场景 Pack 由业务方交付。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手机智感握姿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传感器：边框电容阵列 + IMU + 接近光。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能力：左手/右手/双手/未握持四分类（200ms 内）+ 握姿切换预测。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现网：MultimodalAwarenessKit，来电按钮跟手；仅部分机型。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手表手势识别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传感器：IMU + X-TAP（PPG / ECG / 触摸）。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能力：敲一敲 / 划一划 / 握拳 / 翻腕分类 + 误触抑制。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现网：WATCH 5 首配 NPU，接电话 / 遥控拍照 / 车钥匙解锁。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运动健康与工业（延展）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传感器：IMU / TP（温度压力）。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能力：活动识别 + 工况分类 + 预测性维护。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验证：LIMU-BERT-X 外卖全国部署；TartanIMU 跨机器人 200 FPS。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共性：三个场景都需要「预测 + 分类」同时在线，且设备 / 用户高度异构——正对应三大痛点。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TOP3 场景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6  痛点 → 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每个痛点对应一类已验证的模型能力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平台不做场景：只把模型能力收敛成 接入 → 特征 → 预测 / 分类。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91440" cy="11155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9961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8132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 patch token + 变元注意力：TimesFM-3 变元注意力、UniTS 任务 token；Babel 6 模态对齐作参照。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接入规格统一时钟、量纲、质量位——对齐在进模型前完成。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0604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91440" cy="1115568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73405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71576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跨设备预训练先验：LIMU-BERT-X 覆盖 1.1K 机型、6 万人；Meta EMG 跨用户泛化。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RevIN 实例归一 + LoRA 轻适配（TartanIMU 仅 1.1M 参数即适配新设备）。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91440" cy="1115568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96849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95020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零样本基座：TimesFM-3 零样本预测；UniTS 零样本多任务（预测/分类/填补/异常）。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统一预测 / 分类接口，新场景先零样本启动，再按需微调。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6360"/>
            <a:ext cx="11247120" cy="77724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1088136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平台边界：交付接入校验、共享特征、预测 / 分类双接口、评测工具链；不交付场景 Pack、整机、芯片。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痛点→方案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7  接口定义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预测接口 + 分类接口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所有输入先过接入校验；预测与分类共用同一批 patch token。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接入（数据规格） → 校验 → patch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8813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数据规格 = {序列 id, 时间戳, 数值, 量纲单位, 质量位, 变元角色: 目标 / 仅历史 / 历史+未来}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校验：时钟对齐、量纲归一、质量位过滤、变元上限 32、历史段 ≤ 15,360。不合格直接拒收。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83280"/>
            <a:ext cx="55778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预测（历史段, 预测时长） → {分位数, 点预测}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69080"/>
            <a:ext cx="52120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分位数：(V, H, 9) 十分位轨迹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点预测：(V, H) 中位数 q50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一次前向，CPM 非自回归；可拼接任意预测长度。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38328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48640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分类（时间窗） → {类别, 置信度}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51206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类别：场景方注册的类别 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置信度：softmax 概率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基于共享特征 + 任务 token / 线性探针。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    |    Security Level: 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8  接口规格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输入输出只描述数据形态，不含场景语义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立项口径：每个字段、每个返回结构都可考核、可验收。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输入规格（唯一入口）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字段：序列 id / 时间戳 / 数值 / 量纲单位 / 质量位 / 变元角色。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六字段缺一不可，缺即拒收。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变元：目标 / 仅历史 / 历史+未来；覆盖 IMU / EMG / TP；上限 32。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规模：历史段 ≤ 15,360 点（对齐 TimesFM-3，换底座可上调）。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采样率：档位制 10 / 50 / 100 / 200 Hz；超档自动重采样并记入质量位。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输出规格（结构冻结）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预测接口 → {分位数 (V,H,9), 点预测 (V,H)}。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分类接口 → {类别, 置信度}；类别表由场景方注册。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场景语义（类别表 / 预测时长 / 告警阈值）不进平台接口——「平台不做场景」的落法。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版本化：接口升级向下兼容，旧调用不破坏。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接口规格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9  平台层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两个接口、四种能力、N 个特性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特性爆炸的收法：不按特性抽象，按输出能力抽象；新特性 = 注册配置，不训练新模型。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8470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特性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298448"/>
            <a:ext cx="248716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传感器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298448"/>
            <a:ext cx="1389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能力类型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1298448"/>
            <a:ext cx="17556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窗口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298448"/>
            <a:ext cx="27614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4592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82496"/>
            <a:ext cx="18470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智感握姿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1682496"/>
            <a:ext cx="248716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电容阵列 + IMU + 接近光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682496"/>
            <a:ext cx="13898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74CC"/>
                </a:solidFill>
                <a:latin typeface="Microsoft YaHei"/>
                <a:ea typeface="Microsoft YaHei"/>
                <a:cs typeface="Microsoft YaHei"/>
              </a:rPr>
              <a:t>状态分类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682496"/>
            <a:ext cx="175564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长窗 · 秒级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带状态机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1682496"/>
            <a:ext cx="27614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宏 F1；切换 ≤ 200ms；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稳态抖动率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359152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395728"/>
            <a:ext cx="18470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敲一敲 / 划一划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395728"/>
            <a:ext cx="248716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+ X-TAP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2395728"/>
            <a:ext cx="13898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74CC"/>
                </a:solidFill>
                <a:latin typeface="Microsoft YaHei"/>
                <a:ea typeface="Microsoft YaHei"/>
                <a:cs typeface="Microsoft YaHei"/>
              </a:rPr>
              <a:t>事件检测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395728"/>
            <a:ext cx="175564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短窗 · ~0.5s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门控触发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395728"/>
            <a:ext cx="27614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召回 @ 误报；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触发 p95 ≤ 50ms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072384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108960"/>
            <a:ext cx="18470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招一招 / 翻手腕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3108960"/>
            <a:ext cx="248716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08960"/>
            <a:ext cx="13898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74CC"/>
                </a:solidFill>
                <a:latin typeface="Microsoft YaHei"/>
                <a:ea typeface="Microsoft YaHei"/>
                <a:cs typeface="Microsoft YaHei"/>
              </a:rPr>
              <a:t>事件检测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108960"/>
            <a:ext cx="175564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短窗 · ~0.5s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门控触发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3108960"/>
            <a:ext cx="27614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召回 @ 误报；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触发 p95 ≤ 50ms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785615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822191"/>
            <a:ext cx="18470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智感旋转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3822191"/>
            <a:ext cx="248716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IMU（陀螺仪）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3822191"/>
            <a:ext cx="13898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74CC"/>
                </a:solidFill>
                <a:latin typeface="Microsoft YaHei"/>
                <a:ea typeface="Microsoft YaHei"/>
                <a:cs typeface="Microsoft YaHei"/>
              </a:rPr>
              <a:t>连续预测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3822191"/>
            <a:ext cx="175564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滑动窗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3822191"/>
            <a:ext cx="27614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角度 MAE；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分位数覆盖率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98848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535424"/>
            <a:ext cx="18470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误触抑制（共用）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06040" y="4535424"/>
            <a:ext cx="248716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全部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4535424"/>
            <a:ext cx="13898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74CC"/>
                </a:solidFill>
                <a:latin typeface="Microsoft YaHei"/>
                <a:ea typeface="Microsoft YaHei"/>
                <a:cs typeface="Microsoft YaHei"/>
              </a:rPr>
              <a:t>置信度 / 拒识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4535424"/>
            <a:ext cx="175564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4535424"/>
            <a:ext cx="2761488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误触 &lt; 1 次/天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349240"/>
            <a:ext cx="11247120" cy="96012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458968"/>
            <a:ext cx="108813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新增特性 = 注册数据规格 + 选能力类型 + 类别表 / 触发阈值 + 可选 LoRA；平台按能力类型定指标，特性团队按配置组装。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握姿与敲一敲共享同一底座，差异只在窗口与类别表。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平台层    |    Security Level: Internal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10  量化指标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按能力考核，不按特性考核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每项指标 = 基线 + 目标值 + 测量方法 + 数据集；特性只声明用哪种能力和目标档。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02412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98448"/>
            <a:ext cx="17556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298448"/>
            <a:ext cx="23042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基线 / 对标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98448"/>
            <a:ext cx="294436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目标值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19" y="1298448"/>
            <a:ext cx="22128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测量方法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45920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73352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精度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1673352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 MAE / MASE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1673352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零样本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73352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持平或更优；自研 ≤ 0.95×基线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19" y="1673352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公开 benchmark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+ 自有数据集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212848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240280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精度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2240280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q10–q90 覆盖率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2240280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理论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240280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实测 80% ± 5pp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2240280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留出集滚动回测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779776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807208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精度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2807208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握姿四分类 / 手势宏 F1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2807208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现网启发式 + LIMU-BERT-X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807208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 ≥ 基线−5pp；百样本 ≥ 基线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80720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公开集 + 场景注册集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346704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374136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泛化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3374136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跨设备/用户衰减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374136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单设备独立优化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374136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≤ 5pp；Gen2 后 ≤ 2pp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3374136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留一交叉验证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913632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941064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时延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3080" y="3941064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p95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3941064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现网握姿 200ms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3941064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握姿 ≤ 200ms；手表手势 p95 ≤ 50ms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19" y="3941064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真机 profiling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480560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4507992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功耗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83080" y="4507992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千次推理能耗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49039" y="4507992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—（Gen3 考核）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4507992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整机续航影响 &lt; 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19" y="4507992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功耗仪实测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047488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5074920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工程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83080" y="5074920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拒收率 / 兼容性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49039" y="5074920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3640" y="5074920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版本升级不破坏旧调用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19" y="5074920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工具链自动化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715000"/>
            <a:ext cx="11247120" cy="6858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代际绑定：Gen1 承诺精度基线 → Gen2 承诺泛化提升 → Gen3 承诺时延功耗；标杆任务：智感握姿四分类（200ms）、WATCH 5 敲一敲/划一划、Meta 腕带 0.88 手势/s。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量化指标    |    Security Level: Internal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11  代际演进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零样本基线 → Gen2 千人千面 → Gen3 Token 嵌入大模型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接口不变，能力逐代升级；每代回答一个业务问题。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Gen1  零样本基线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预训练底座直接上岗。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握姿 / 手势零样本基线；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分类走规则 / 线性探针（UniTS / MOMENT）。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回答：底座行不行 → 统一评测基线。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Gen2  千人千面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轻量适配到每设备、每用户。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左右手习惯、佩戴松紧、手套 / 纹身 → LoRA 个性化；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TartanIMU 仅 1.1M 参数、Meta EMG +16%。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回答：换设备换人还行不行 → 画像进数据规格。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Gen3  Token 嵌入大模型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物理 patch token 作为新模态注入大模型。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 + 分类变成大模型的原生能力；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平台从「提供模型」变成「提供 token 与接口」。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回答：物理感知如何进入统一智能。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演进原则：接口（接入 / 预测 / 分类）向下兼容；底座、权重、头可独立替换。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代际演进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FC2917F5-FC52-4782-A0FF-AE2013F589C8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25829FED-7996-4B48-8C44-EBA668E4F8ED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6DF1AB71-8E54-4DA3-96CA-45CA365BFE54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1AA013AF-7C2E-4A39-9796-86760F640C19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88</TotalTime>
  <Words>55</Words>
  <Application>Microsoft Office PowerPoint</Application>
  <PresentationFormat>自定义</PresentationFormat>
  <Paragraphs>49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黑体</vt:lpstr>
      <vt:lpstr>Microsoft YaHei</vt:lpstr>
      <vt:lpstr>Arial</vt:lpstr>
      <vt:lpstr>Calibri</vt:lpstr>
      <vt:lpstr>Calibri Light</vt:lpstr>
      <vt:lpstr>1_Title Slide</vt:lpstr>
      <vt:lpstr>Chart page</vt:lpstr>
      <vt:lpstr>4_Chart page</vt:lpstr>
      <vt:lpstr>End page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Hanke (A)</cp:lastModifiedBy>
  <cp:revision>11</cp:revision>
  <dcterms:created xsi:type="dcterms:W3CDTF">2018-12-05T07:23:25Z</dcterms:created>
  <dcterms:modified xsi:type="dcterms:W3CDTF">2021-01-28T09:59:27Z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