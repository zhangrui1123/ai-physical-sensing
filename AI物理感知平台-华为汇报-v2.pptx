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8" r:id="rId1"/>
    <p:sldMasterId id="2147483797" r:id="rId2"/>
    <p:sldMasterId id="2147483816" r:id="rId3"/>
    <p:sldMasterId id="2147483683" r:id="rId4"/>
  </p:sldMasterIdLst>
  <p:notesMasterIdLst>
    <p:notesMasterId r:id="rId10"/>
  </p:notesMasterIdLst>
  <p:handoutMasterIdLst>
    <p:handoutMasterId r:id="rId11"/>
  </p:handoutMasterIdLst>
  <p:sldIdLst>
    <p:sldId id="256" r:id="rId9"/>
    <p:sldId id="257" r:id="rId8"/>
    <p:sldId id="258" r:id="rId7"/>
    <p:sldId id="259" r:id="rId6"/>
    <p:sldId id="260" r:id="rId5"/>
    <p:sldId id="261" r:id="rId16"/>
    <p:sldId id="262" r:id="rId17"/>
    <p:sldId id="263" r:id="rId18"/>
    <p:sldId id="264" r:id="rId19"/>
    <p:sldId id="265" r:id="rId20"/>
    <p:sldId id="266" r:id="rId21"/>
  </p:sldIdLst>
  <p:sldSz cx="12196763" cy="6858000"/>
  <p:notesSz cx="6858000" cy="9144000"/>
  <p:defaultTextStyle>
    <a:defPPr>
      <a:defRPr lang="en-US"/>
    </a:defPPr>
    <a:lvl1pPr marL="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40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7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718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957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196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43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675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913" algn="l" defTabSz="914478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封面页_图片版" id="{E8D0D622-F6C6-F44A-B365-B4A5FF6195C2}">
          <p14:sldIdLst>
            <p14:sldId id="283"/>
          </p14:sldIdLst>
        </p14:section>
        <p14:section name="目录页" id="{9D221634-295C-7843-AF5C-A0CB4F229241}">
          <p14:sldIdLst>
            <p14:sldId id="282"/>
          </p14:sldIdLst>
        </p14:section>
        <p14:section name="章节页" id="{FD05EE94-C931-8C4B-83A2-004B32AA1207}">
          <p14:sldIdLst>
            <p14:sldId id="281"/>
            <p14:sldId id="285"/>
          </p14:sldIdLst>
        </p14:section>
        <p14:section name="结束页" id="{3F9D54A7-3BE2-2540-BB4C-DFE5509085F3}">
          <p14:sldIdLst>
            <p14:sldId id="280"/>
          </p14:sldIdLst>
        </p14:section>
      </p14:sectionLst>
    </p:ext>
    <p:ext uri="{EFAFB233-063F-42B5-8137-9DF3F51BA10A}">
      <p15:sldGuideLst xmlns:p15="http://schemas.microsoft.com/office/powerpoint/2012/main">
        <p15:guide id="5" pos="3701" userDrawn="1">
          <p15:clr>
            <a:srgbClr val="A4A3A4"/>
          </p15:clr>
        </p15:guide>
        <p15:guide id="6" orient="horz" pos="2159" userDrawn="1">
          <p15:clr>
            <a:srgbClr val="A4A3A4"/>
          </p15:clr>
        </p15:guide>
        <p15:guide id="7" pos="353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51515"/>
    <a:srgbClr val="C7000B"/>
    <a:srgbClr val="575756"/>
    <a:srgbClr val="FFFFFF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2833802-FEF1-4C79-8D5D-14CF1EAF98D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EB9631B5-78F2-41C9-869B-9F39066F8104}" styleName="Medium Style 3 - Acc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912C8C85-51F0-491E-9774-3900AFEF0FD7}" styleName="Light Style 2 - Accent 6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</a:tcStyle>
    </a:band1H>
    <a:band1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1V>
    <a:band2V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6"/>
        </a:fillRef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6291"/>
  </p:normalViewPr>
  <p:slideViewPr>
    <p:cSldViewPr snapToGrid="0" snapToObjects="1">
      <p:cViewPr varScale="1">
        <p:scale>
          <a:sx n="88" d="100"/>
          <a:sy n="88" d="100"/>
        </p:scale>
        <p:origin x="460" y="68"/>
      </p:cViewPr>
      <p:guideLst>
        <p:guide pos="3701"/>
        <p:guide orient="horz" pos="2159"/>
        <p:guide pos="353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5.xml"/><Relationship Id="rId6" Type="http://schemas.openxmlformats.org/officeDocument/2006/relationships/slide" Target="slides/slide4.xml"/><Relationship Id="rId7" Type="http://schemas.openxmlformats.org/officeDocument/2006/relationships/slide" Target="slides/slide3.xml"/><Relationship Id="rId8" Type="http://schemas.openxmlformats.org/officeDocument/2006/relationships/slide" Target="slides/slide2.xml"/><Relationship Id="rId9" Type="http://schemas.openxmlformats.org/officeDocument/2006/relationships/slide" Target="slides/slide1.xml"/><Relationship Id="rId10" Type="http://schemas.openxmlformats.org/officeDocument/2006/relationships/notesMaster" Target="notesMasters/notesMaster1.xml"/><Relationship Id="rId11" Type="http://schemas.openxmlformats.org/officeDocument/2006/relationships/handoutMaster" Target="handoutMasters/handout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="" xmlns:a16="http://schemas.microsoft.com/office/drawing/2014/main" id="{8CC198DB-AFBD-584A-8986-364FF2B03F4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="" xmlns:a16="http://schemas.microsoft.com/office/drawing/2014/main" id="{AD01315C-523F-A043-8029-B9921497126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="" xmlns:a16="http://schemas.microsoft.com/office/drawing/2014/main" id="{B9601424-70F4-1643-8E3A-557A0258D6B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="" xmlns:a16="http://schemas.microsoft.com/office/drawing/2014/main" id="{E85BF48A-FF5C-8145-95A7-EE66A87C73DF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909529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  <a:t>1/28/2021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4632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5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304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957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60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261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913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566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219" algn="l" defTabSz="1219304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e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jpe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>
            <a:extLst>
              <a:ext uri="{FF2B5EF4-FFF2-40B4-BE49-F238E27FC236}">
                <a16:creationId xmlns="" xmlns:a16="http://schemas.microsoft.com/office/drawing/2014/main" id="{8227DEE9-8BE9-0D49-BF96-9E83C5312E00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>
            <a:extLst>
              <a:ext uri="{FF2B5EF4-FFF2-40B4-BE49-F238E27FC236}">
                <a16:creationId xmlns="" xmlns:a16="http://schemas.microsoft.com/office/drawing/2014/main" id="{2F43DA98-D48D-6947-95EF-BA3B05E6882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6603596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>
            <a:extLst>
              <a:ext uri="{FF2B5EF4-FFF2-40B4-BE49-F238E27FC236}">
                <a16:creationId xmlns="" xmlns:a16="http://schemas.microsoft.com/office/drawing/2014/main" id="{62AA4863-E1EF-3342-A8CB-ECD4FD06CEB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95303EA-8491-464F-99A0-67F948701C1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84759"/>
      </p:ext>
    </p:extLst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/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6BB7B2F8-0AF7-D04F-81DD-52FDB6B7326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044998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3414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>
            <a:extLst>
              <a:ext uri="{FF2B5EF4-FFF2-40B4-BE49-F238E27FC236}">
                <a16:creationId xmlns="" xmlns:a16="http://schemas.microsoft.com/office/drawing/2014/main" id="{E2C11B17-3CC6-445B-AC71-74F18E4B4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/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>
            <a:extLst>
              <a:ext uri="{FF2B5EF4-FFF2-40B4-BE49-F238E27FC236}">
                <a16:creationId xmlns="" xmlns:a16="http://schemas.microsoft.com/office/drawing/2014/main" id="{D9C13A00-1073-4DDB-80E9-154875087B13}"/>
              </a:ext>
            </a:extLst>
          </p:cNvPr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>
            <a:extLst>
              <a:ext uri="{FF2B5EF4-FFF2-40B4-BE49-F238E27FC236}">
                <a16:creationId xmlns="" xmlns:a16="http://schemas.microsoft.com/office/drawing/2014/main" id="{C897A368-8F39-4049-9BB0-AEB315EB7E0D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>
            <a:extLst>
              <a:ext uri="{FF2B5EF4-FFF2-40B4-BE49-F238E27FC236}">
                <a16:creationId xmlns="" xmlns:a16="http://schemas.microsoft.com/office/drawing/2014/main" id="{12621051-E1A4-A049-BF21-61B18B34831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7399749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>
            <a:extLst>
              <a:ext uri="{FF2B5EF4-FFF2-40B4-BE49-F238E27FC236}">
                <a16:creationId xmlns="" xmlns:a16="http://schemas.microsoft.com/office/drawing/2014/main" id="{20F7C7B5-0135-F749-B910-7325E96AE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463">
              <a:lnSpc>
                <a:spcPct val="70000"/>
              </a:lnSpc>
              <a:buFont typeface="+mj-lt"/>
              <a:buAutoNum type="arabicPeriod"/>
              <a:tabLst/>
              <a:defRPr sz="2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412750" indent="-398463">
              <a:buFont typeface="+mj-lt"/>
              <a:buAutoNum type="arabicPeriod"/>
              <a:tabLst/>
              <a:defRPr/>
            </a:lvl2pPr>
            <a:lvl3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3pPr>
            <a:lvl4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4pPr>
            <a:lvl5pPr marL="14287" indent="0">
              <a:buFont typeface="+mj-lt"/>
              <a:buNone/>
              <a:tabLst/>
              <a:defRPr sz="2200">
                <a:latin typeface="Microsoft YaHei" panose="020B0503020204020204" pitchFamily="34" charset="-122"/>
                <a:ea typeface="Microsoft YaHei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>
            <a:extLst>
              <a:ext uri="{FF2B5EF4-FFF2-40B4-BE49-F238E27FC236}">
                <a16:creationId xmlns="" xmlns:a16="http://schemas.microsoft.com/office/drawing/2014/main" id="{C79E9F57-49BC-DC4A-B843-36D48051C848}"/>
              </a:ext>
            </a:extLst>
          </p:cNvPr>
          <p:cNvCxnSpPr>
            <a:cxnSpLocks/>
          </p:cNvCxnSpPr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>
            <a:extLst>
              <a:ext uri="{FF2B5EF4-FFF2-40B4-BE49-F238E27FC236}">
                <a16:creationId xmlns="" xmlns:a16="http://schemas.microsoft.com/office/drawing/2014/main" id="{568EC886-2612-1F43-AB51-21A76A078357}"/>
              </a:ext>
            </a:extLst>
          </p:cNvPr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6" dirty="0">
                <a:solidFill>
                  <a:schemeClr val="tx1"/>
                </a:solidFill>
                <a:latin typeface="Microsoft YaHei" charset="-122"/>
                <a:ea typeface="Microsoft YaHei" charset="-122"/>
                <a:cs typeface="Microsoft YaHei" charset="-122"/>
              </a:rPr>
              <a:t>目录</a:t>
            </a:r>
          </a:p>
        </p:txBody>
      </p:sp>
    </p:spTree>
    <p:extLst>
      <p:ext uri="{BB962C8B-B14F-4D97-AF65-F5344CB8AC3E}">
        <p14:creationId xmlns:p14="http://schemas.microsoft.com/office/powerpoint/2010/main" val="16842298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="" xmlns:a16="http://schemas.microsoft.com/office/drawing/2014/main" id="{D2A38214-5857-FC4E-B923-056100E16BCA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defRPr>
            </a:lvl1pPr>
            <a:lvl2pPr marL="593900" indent="0" algn="ctr">
              <a:buNone/>
              <a:defRPr sz="2598"/>
            </a:lvl2pPr>
            <a:lvl3pPr marL="1187798" indent="0" algn="ctr">
              <a:buNone/>
              <a:defRPr sz="2338"/>
            </a:lvl3pPr>
            <a:lvl4pPr marL="1781699" indent="0" algn="ctr">
              <a:buNone/>
              <a:defRPr sz="2079"/>
            </a:lvl4pPr>
            <a:lvl5pPr marL="2375598" indent="0" algn="ctr">
              <a:buNone/>
              <a:defRPr sz="2079"/>
            </a:lvl5pPr>
            <a:lvl6pPr marL="2969497" indent="0" algn="ctr">
              <a:buNone/>
              <a:defRPr sz="2079"/>
            </a:lvl6pPr>
            <a:lvl7pPr marL="3563396" indent="0" algn="ctr">
              <a:buNone/>
              <a:defRPr sz="2079"/>
            </a:lvl7pPr>
            <a:lvl8pPr marL="4157297" indent="0" algn="ctr">
              <a:buNone/>
              <a:defRPr sz="2079"/>
            </a:lvl8pPr>
            <a:lvl9pPr marL="4751195" indent="0" algn="ctr">
              <a:buNone/>
              <a:defRPr sz="2079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="" xmlns:a16="http://schemas.microsoft.com/office/drawing/2014/main" id="{8A4EAA63-3827-DA40-B921-C01084B9DA87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373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20" algn="ctr"/>
              </a:tabLst>
              <a:defRPr sz="1800" baseline="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Arial" panose="020B0604020202020204" pitchFamily="34" charset="0"/>
              </a:defRPr>
            </a:lvl1pPr>
            <a:lvl2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2pPr>
            <a:lvl3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3pPr>
            <a:lvl4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4pPr>
            <a:lvl5pPr marL="525850" indent="-171159">
              <a:buFont typeface="Arial" panose="020B0604020202020204" pitchFamily="34" charset="0"/>
              <a:buChar char="•"/>
              <a:tabLst>
                <a:tab pos="1208420" algn="ctr"/>
              </a:tabLst>
              <a:defRPr sz="1299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8579137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2" pos="3842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42AF307D-40F4-EC4C-9108-79E948007529}"/>
              </a:ext>
            </a:extLst>
          </p:cNvPr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</a:p>
        </p:txBody>
      </p:sp>
    </p:spTree>
    <p:extLst>
      <p:ext uri="{BB962C8B-B14F-4D97-AF65-F5344CB8AC3E}">
        <p14:creationId xmlns:p14="http://schemas.microsoft.com/office/powerpoint/2010/main" val="366478601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theme" Target="../theme/theme3.xml"/><Relationship Id="rId3" Type="http://schemas.openxmlformats.org/officeDocument/2006/relationships/image" Target="../media/image6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theme" Target="../theme/theme4.xml"/><Relationship Id="rId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="" xmlns:a16="http://schemas.microsoft.com/office/drawing/2014/main" id="{AF72FAD7-C8C3-754A-A498-D3A7EC29AB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71048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2" r:id="rId1"/>
    <p:sldLayoutId id="2147483893" r:id="rId2"/>
    <p:sldLayoutId id="2147483897" r:id="rId3"/>
    <p:sldLayoutId id="2147483822" r:id="rId4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Microsoft YaHei" panose="020B0503020204020204" pitchFamily="34" charset="-122"/>
          <a:ea typeface="Microsoft YaHei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59" userDrawn="1">
          <p15:clr>
            <a:srgbClr val="F26B43"/>
          </p15:clr>
        </p15:guide>
        <p15:guide id="2" pos="3841" userDrawn="1">
          <p15:clr>
            <a:srgbClr val="F26B43"/>
          </p15:clr>
        </p15:guide>
        <p15:guide id="3" pos="565" userDrawn="1">
          <p15:clr>
            <a:srgbClr val="F26B43"/>
          </p15:clr>
        </p15:guide>
        <p15:guide id="4" orient="horz" pos="4007" userDrawn="1">
          <p15:clr>
            <a:srgbClr val="F26B43"/>
          </p15:clr>
        </p15:guide>
        <p15:guide id="5" orient="horz" pos="1235" userDrawn="1">
          <p15:clr>
            <a:srgbClr val="F26B43"/>
          </p15:clr>
        </p15:guide>
        <p15:guide id="6" orient="horz" pos="553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612394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87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="" xmlns:a16="http://schemas.microsoft.com/office/drawing/2014/main" id="{6785A3D6-1271-D247-9E96-1B376F4BE7BE}"/>
              </a:ext>
            </a:extLst>
          </p:cNvPr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4" b="0" baseline="0" dirty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Huawei Confidential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ABEE2EE-BF4D-7A4A-B3C6-9E47668CCD98}"/>
              </a:ext>
            </a:extLst>
          </p:cNvPr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849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3837181-38C6-AD4F-B8BA-B444770388BB}" type="slidenum">
              <a:rPr lang="en-US" sz="974" smtClean="0">
                <a:solidFill>
                  <a:srgbClr val="1D1D1B"/>
                </a:solidFill>
                <a:latin typeface="Arial" panose="020B0604020202020204" pitchFamily="34" charset="0"/>
                <a:cs typeface="Arial" panose="020B0604020202020204" pitchFamily="34" charset="0"/>
              </a:rPr>
              <a:pPr marL="0" marR="0" lvl="0" indent="0" algn="l" defTabSz="890849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lang="en-US" sz="974" dirty="0">
              <a:solidFill>
                <a:srgbClr val="1D1D1B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>
                <a:extLst>
                  <a:ext uri="{FF2B5EF4-FFF2-40B4-BE49-F238E27FC236}">
                    <a16:creationId xmlns="" xmlns:a16="http://schemas.microsoft.com/office/drawing/2014/main" id="{3B0B5EC2-EA55-CC45-A9D0-D5EA5D768C99}"/>
                  </a:ext>
                </a:extLst>
              </p:cNvPr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186C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200/16/46</a:t>
                </a:r>
              </a:p>
            </p:txBody>
          </p:sp>
          <p:sp>
            <p:nvSpPr>
              <p:cNvPr id="45" name="矩形 9">
                <a:extLst>
                  <a:ext uri="{FF2B5EF4-FFF2-40B4-BE49-F238E27FC236}">
                    <a16:creationId xmlns="" xmlns:a16="http://schemas.microsoft.com/office/drawing/2014/main" id="{992224C5-04A6-C041-B257-13137945DBB8}"/>
                  </a:ext>
                </a:extLst>
              </p:cNvPr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P</a:t>
                </a:r>
                <a:r>
                  <a:rPr kumimoji="1" lang="en-US" altLang="zh-Hant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185C</a:t>
                </a: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 199/0/11</a:t>
                </a:r>
              </a:p>
            </p:txBody>
          </p:sp>
          <p:sp>
            <p:nvSpPr>
              <p:cNvPr id="46" name="文本框 31">
                <a:extLst>
                  <a:ext uri="{FF2B5EF4-FFF2-40B4-BE49-F238E27FC236}">
                    <a16:creationId xmlns="" xmlns:a16="http://schemas.microsoft.com/office/drawing/2014/main" id="{58918196-0639-EE4B-AFC2-315BE04587B9}"/>
                  </a:ext>
                </a:extLst>
              </p:cNvPr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品牌色</a:t>
                </a: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>
                <a:extLst>
                  <a:ext uri="{FF2B5EF4-FFF2-40B4-BE49-F238E27FC236}">
                    <a16:creationId xmlns="" xmlns:a16="http://schemas.microsoft.com/office/drawing/2014/main" id="{DCA8B73C-0B87-284F-805F-752EBF20B768}"/>
                  </a:ext>
                </a:extLst>
              </p:cNvPr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234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90/79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29" name="矩形 13">
                <a:extLst>
                  <a:ext uri="{FF2B5EF4-FFF2-40B4-BE49-F238E27FC236}">
                    <a16:creationId xmlns="" xmlns:a16="http://schemas.microsoft.com/office/drawing/2014/main" id="{138A39A8-BB4E-CD4E-9201-F1785C874F92}"/>
                  </a:ext>
                </a:extLst>
              </p:cNvPr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120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0/15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0" name="文本框 15">
                <a:extLst>
                  <a:ext uri="{FF2B5EF4-FFF2-40B4-BE49-F238E27FC236}">
                    <a16:creationId xmlns="" xmlns:a16="http://schemas.microsoft.com/office/drawing/2014/main" id="{8F53C07A-1022-C740-8F8D-97538E174D38}"/>
                  </a:ext>
                </a:extLst>
              </p:cNvPr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Microsoft YaHei" panose="020B0503020204020204" pitchFamily="34" charset="-122"/>
                    <a:ea typeface="Microsoft YaHei" panose="020B0503020204020204" pitchFamily="34" charset="-122"/>
                  </a:rPr>
                  <a:t>辅助色</a:t>
                </a:r>
              </a:p>
            </p:txBody>
          </p:sp>
          <p:sp>
            <p:nvSpPr>
              <p:cNvPr id="31" name="矩形 16">
                <a:extLst>
                  <a:ext uri="{FF2B5EF4-FFF2-40B4-BE49-F238E27FC236}">
                    <a16:creationId xmlns="" xmlns:a16="http://schemas.microsoft.com/office/drawing/2014/main" id="{306A7598-C00D-994F-82DA-B39F3C2E0AAD}"/>
                  </a:ext>
                </a:extLst>
              </p:cNvPr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248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181/60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2" name="矩形 17">
                <a:extLst>
                  <a:ext uri="{FF2B5EF4-FFF2-40B4-BE49-F238E27FC236}">
                    <a16:creationId xmlns="" xmlns:a16="http://schemas.microsoft.com/office/drawing/2014/main" id="{C1423292-FF2F-A74C-943E-1C3C47534098}"/>
                  </a:ext>
                </a:extLst>
              </p:cNvPr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235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92/1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3" name="矩形 18">
                <a:extLst>
                  <a:ext uri="{FF2B5EF4-FFF2-40B4-BE49-F238E27FC236}">
                    <a16:creationId xmlns="" xmlns:a16="http://schemas.microsoft.com/office/drawing/2014/main" id="{2A29AF15-F5C4-A842-A63B-5DBA549CB92F}"/>
                  </a:ext>
                </a:extLst>
              </p:cNvPr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137/137/137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4" name="矩形 19">
                <a:extLst>
                  <a:ext uri="{FF2B5EF4-FFF2-40B4-BE49-F238E27FC236}">
                    <a16:creationId xmlns="" xmlns:a16="http://schemas.microsoft.com/office/drawing/2014/main" id="{E9EA970A-4D36-BC41-B8BE-40DF553320E7}"/>
                  </a:ext>
                </a:extLst>
              </p:cNvPr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35/24/21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5" name="矩形 22">
                <a:extLst>
                  <a:ext uri="{FF2B5EF4-FFF2-40B4-BE49-F238E27FC236}">
                    <a16:creationId xmlns="" xmlns:a16="http://schemas.microsoft.com/office/drawing/2014/main" id="{14EE21FB-1D92-0241-ABA5-5E9A6AEE0DC8}"/>
                  </a:ext>
                </a:extLst>
              </p:cNvPr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221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221/221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6" name="矩形 12">
                <a:extLst>
                  <a:ext uri="{FF2B5EF4-FFF2-40B4-BE49-F238E27FC236}">
                    <a16:creationId xmlns="" xmlns:a16="http://schemas.microsoft.com/office/drawing/2014/main" id="{883734A3-2645-434A-9DCC-1416B6C687CC}"/>
                  </a:ext>
                </a:extLst>
              </p:cNvPr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233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140/128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7" name="矩形 13">
                <a:extLst>
                  <a:ext uri="{FF2B5EF4-FFF2-40B4-BE49-F238E27FC236}">
                    <a16:creationId xmlns="" xmlns:a16="http://schemas.microsoft.com/office/drawing/2014/main" id="{1FF13552-FB3D-134A-A80A-6CFB35DFE1A1}"/>
                  </a:ext>
                </a:extLst>
              </p:cNvPr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159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0/1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8" name="矩形 16">
                <a:extLst>
                  <a:ext uri="{FF2B5EF4-FFF2-40B4-BE49-F238E27FC236}">
                    <a16:creationId xmlns="" xmlns:a16="http://schemas.microsoft.com/office/drawing/2014/main" id="{0A96471B-CB12-1443-B01F-C14C9112C149}"/>
                  </a:ext>
                </a:extLst>
              </p:cNvPr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245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220/87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39" name="矩形 17">
                <a:extLst>
                  <a:ext uri="{FF2B5EF4-FFF2-40B4-BE49-F238E27FC236}">
                    <a16:creationId xmlns="" xmlns:a16="http://schemas.microsoft.com/office/drawing/2014/main" id="{61890D59-CF8B-1449-A836-3A304EC9A907}"/>
                  </a:ext>
                </a:extLst>
              </p:cNvPr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240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133/0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0" name="矩形 18">
                <a:extLst>
                  <a:ext uri="{FF2B5EF4-FFF2-40B4-BE49-F238E27FC236}">
                    <a16:creationId xmlns="" xmlns:a16="http://schemas.microsoft.com/office/drawing/2014/main" id="{0466A1E1-E7C7-FD49-9880-9E44BED19FF5}"/>
                  </a:ext>
                </a:extLst>
              </p:cNvPr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181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181/181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2" name="矩形 19">
                <a:extLst>
                  <a:ext uri="{FF2B5EF4-FFF2-40B4-BE49-F238E27FC236}">
                    <a16:creationId xmlns="" xmlns:a16="http://schemas.microsoft.com/office/drawing/2014/main" id="{B21AD6AC-1275-0142-A9EA-D77B26CB40EF}"/>
                  </a:ext>
                </a:extLst>
              </p:cNvPr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 89</a:t>
                </a:r>
                <a:r>
                  <a:rPr kumimoji="1" lang="mr-IN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charset="0"/>
                    <a:ea typeface="Arial" charset="0"/>
                    <a:cs typeface="Arial" charset="0"/>
                  </a:rPr>
                  <a:t>87/87</a:t>
                </a:r>
                <a:endParaRPr kumimoji="1" lang="mr-IN" altLang="zh-CN" sz="700" b="1" dirty="0">
                  <a:solidFill>
                    <a:schemeClr val="tx2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  <p:sp>
            <p:nvSpPr>
              <p:cNvPr id="43" name="矩形 22">
                <a:extLst>
                  <a:ext uri="{FF2B5EF4-FFF2-40B4-BE49-F238E27FC236}">
                    <a16:creationId xmlns="" xmlns:a16="http://schemas.microsoft.com/office/drawing/2014/main" id="{238BAC2A-AE09-A84D-875D-8472236D6610}"/>
                  </a:ext>
                </a:extLst>
              </p:cNvPr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RGB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 255</a:t>
                </a:r>
                <a:r>
                  <a:rPr kumimoji="1" lang="mr-IN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/</a:t>
                </a: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charset="0"/>
                    <a:ea typeface="Arial" charset="0"/>
                    <a:cs typeface="Arial" charset="0"/>
                  </a:rPr>
                  <a:t>255/255</a:t>
                </a:r>
                <a:endParaRPr kumimoji="1" lang="mr-IN" altLang="zh-CN" sz="700" b="1" dirty="0">
                  <a:solidFill>
                    <a:schemeClr val="bg1"/>
                  </a:solidFill>
                  <a:latin typeface="Arial" charset="0"/>
                  <a:ea typeface="Arial" charset="0"/>
                  <a:cs typeface="Arial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9905653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91" r:id="rId1"/>
  </p:sldLayoutIdLst>
  <p:timing>
    <p:tnLst>
      <p:par>
        <p:cTn id="1" dur="indefinite" restart="never" nodeType="tmRoot"/>
      </p:par>
    </p:tnLst>
  </p:timing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716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6950" indent="-29695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3636" kern="1200">
          <a:solidFill>
            <a:schemeClr val="tx1"/>
          </a:solidFill>
          <a:latin typeface="+mn-lt"/>
          <a:ea typeface="+mn-ea"/>
          <a:cs typeface="+mn-cs"/>
        </a:defRPr>
      </a:lvl1pPr>
      <a:lvl2pPr marL="890849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4847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2078648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6725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25" userDrawn="1">
          <p15:clr>
            <a:srgbClr val="F26B43"/>
          </p15:clr>
        </p15:guide>
        <p15:guide id="5" orient="horz" pos="4100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="" xmlns:a16="http://schemas.microsoft.com/office/drawing/2014/main" id="{145F1158-B1AA-8F41-AF0A-FEA0EC1874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1">
            <a:extLst>
              <a:ext uri="{FF2B5EF4-FFF2-40B4-BE49-F238E27FC236}">
                <a16:creationId xmlns="" xmlns:a16="http://schemas.microsoft.com/office/drawing/2014/main" id="{F8FC7CCD-75EB-9C44-BC7D-29679334A8CA}"/>
              </a:ext>
            </a:extLst>
          </p:cNvPr>
          <p:cNvSpPr txBox="1">
            <a:spLocks/>
          </p:cNvSpPr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 smtClean="0">
                <a:solidFill>
                  <a:srgbClr val="1D1D1B"/>
                </a:solidFill>
                <a:latin typeface="+mj-lt"/>
              </a:rPr>
              <a:t>Copyright©2021 </a:t>
            </a: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779" dirty="0">
                <a:solidFill>
                  <a:srgbClr val="1D1D1B"/>
                </a:solidFill>
                <a:latin typeface="+mn-lt"/>
              </a:rPr>
              <a:t/>
            </a:r>
            <a:br>
              <a:rPr kumimoji="1" lang="en-US" altLang="zh-CN" sz="779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may change the information at any time without notice. </a:t>
            </a:r>
          </a:p>
          <a:p>
            <a:pPr>
              <a:lnSpc>
                <a:spcPts val="1065"/>
              </a:lnSpc>
            </a:pPr>
            <a:endParaRPr kumimoji="1" lang="zh-CN" altLang="en-US" sz="779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>
            <a:extLst>
              <a:ext uri="{FF2B5EF4-FFF2-40B4-BE49-F238E27FC236}">
                <a16:creationId xmlns="" xmlns:a16="http://schemas.microsoft.com/office/drawing/2014/main" id="{12B8F806-ABD5-064C-8793-5E22C72554FD}"/>
              </a:ext>
            </a:extLst>
          </p:cNvPr>
          <p:cNvSpPr txBox="1">
            <a:spLocks/>
          </p:cNvSpPr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rgbClr val="FFFFF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1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把数字世界带入每个人、每个家庭、</a:t>
            </a:r>
            <a: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/>
            </a:r>
            <a:br>
              <a:rPr kumimoji="1" lang="en-US" altLang="zh-CN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Microsoft YaHei" charset="-122"/>
                <a:ea typeface="Microsoft YaHei" charset="-122"/>
                <a:cs typeface="Microsoft YaHei" charset="-122"/>
              </a:rPr>
              <a:t>每个组织，构建万物互联的智能世界。</a:t>
            </a:r>
          </a:p>
        </p:txBody>
      </p:sp>
      <p:sp>
        <p:nvSpPr>
          <p:cNvPr id="7" name="Subtitle 6">
            <a:extLst>
              <a:ext uri="{FF2B5EF4-FFF2-40B4-BE49-F238E27FC236}">
                <a16:creationId xmlns="" xmlns:a16="http://schemas.microsoft.com/office/drawing/2014/main" id="{F1235B6F-D691-2C40-93D4-EC5427ADDFB0}"/>
              </a:ext>
            </a:extLst>
          </p:cNvPr>
          <p:cNvSpPr txBox="1">
            <a:spLocks/>
          </p:cNvSpPr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400" kern="1200">
                <a:solidFill>
                  <a:schemeClr val="tx1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4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2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Microsoft YaHei" charset="-122"/>
              <a:cs typeface="Microsoft YaHei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8406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</p:sldLayoutIdLst>
  <p:hf hdr="0" ftr="0" dt="0"/>
  <p:txStyles>
    <p:titleStyle>
      <a:lvl1pPr algn="l" defTabSz="1187798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20204" pitchFamily="34" charset="0"/>
          <a:ea typeface="Microsoft YaHei" panose="020B0503020204020204" pitchFamily="34" charset="-122"/>
          <a:cs typeface="Arial" panose="020B0604020202020204" pitchFamily="34" charset="0"/>
        </a:defRPr>
      </a:lvl1pPr>
    </p:titleStyle>
    <p:bodyStyle>
      <a:lvl1pPr marL="0" indent="0" algn="l" defTabSz="1187798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None/>
        <a:defRPr sz="1819" kern="1200">
          <a:solidFill>
            <a:srgbClr val="FFFFFF"/>
          </a:solidFill>
          <a:latin typeface="Microsoft YaHei" panose="020B0503020204020204" pitchFamily="34" charset="-122"/>
          <a:ea typeface="Microsoft YaHei" panose="020B0503020204020204" pitchFamily="34" charset="-122"/>
          <a:cs typeface="+mn-cs"/>
        </a:defRPr>
      </a:lvl1pPr>
      <a:lvl2pPr marL="593900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311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59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indent="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None/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7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860346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454245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5048144" indent="-296950" algn="l" defTabSz="1187798" rtl="0" eaLnBrk="1" latinLnBrk="0" hangingPunct="1">
        <a:lnSpc>
          <a:spcPct val="90000"/>
        </a:lnSpc>
        <a:spcBef>
          <a:spcPts val="650"/>
        </a:spcBef>
        <a:buFont typeface="Arial" panose="020B0604020202020204" pitchFamily="34" charset="0"/>
        <a:buChar char="•"/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1pPr>
      <a:lvl2pPr marL="593900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2pPr>
      <a:lvl3pPr marL="11877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3pPr>
      <a:lvl4pPr marL="1781699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4pPr>
      <a:lvl5pPr marL="2375598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5pPr>
      <a:lvl6pPr marL="29694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6pPr>
      <a:lvl7pPr marL="3563396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7pPr>
      <a:lvl8pPr marL="4157297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8pPr>
      <a:lvl9pPr marL="4751195" algn="l" defTabSz="1187798" rtl="0" eaLnBrk="1" latinLnBrk="0" hangingPunct="1">
        <a:defRPr sz="2338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orient="horz" pos="2161" userDrawn="1">
          <p15:clr>
            <a:srgbClr val="F26B43"/>
          </p15:clr>
        </p15:guide>
        <p15:guide id="2" pos="3842" userDrawn="1">
          <p15:clr>
            <a:srgbClr val="F26B43"/>
          </p15:clr>
        </p15:guide>
        <p15:guide id="3" pos="458" userDrawn="1">
          <p15:clr>
            <a:srgbClr val="F26B43"/>
          </p15:clr>
        </p15:guide>
        <p15:guide id="4" pos="7216" userDrawn="1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43000"/>
            <a:ext cx="1097280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华为内部立项  ·  痛点驱动：多模态 · 多设备 · 多场景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972800" cy="6400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40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AI 物理感知平台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286000"/>
            <a:ext cx="109728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8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接入契约 → 共享表征 → 预测 / 分类双接口，不做场景应用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834640"/>
            <a:ext cx="10881360" cy="109728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971800"/>
            <a:ext cx="1042416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三大痛点：多模态融合不足、多设备自适应困难、多任务多场景泛化弱。</a:t>
            </a:r>
          </a:p>
          <a:p>
            <a:pPr algn="l">
              <a:spcAft>
                <a:spcPts val="200"/>
              </a:spcAft>
            </a:pPr>
            <a:r>
              <a:rPr sz="15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平台对策：统一 patch token 表征 + 统一推理接口；底座可换，接口不变。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4160520"/>
            <a:ext cx="35204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4160520"/>
            <a:ext cx="352044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4343400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54880"/>
            <a:ext cx="3154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多模态 · 多设备 · 多场景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43400" y="4160520"/>
            <a:ext cx="35204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43400" y="4160520"/>
            <a:ext cx="352044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4343400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26280" y="4754880"/>
            <a:ext cx="3154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接入契约 + 预测 + 分类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46719" y="4160520"/>
            <a:ext cx="3520440" cy="155448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6719" y="4160520"/>
            <a:ext cx="352044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599" y="4343400"/>
            <a:ext cx="31546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演进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599" y="4754880"/>
            <a:ext cx="3154680" cy="7772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零样本基线 → 千人千面 → Token 嵌入大模型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943600"/>
            <a:ext cx="77724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来源：TimesFM / UniTS / MOMENT / LIMU-BERT-X 公开资料  ·  11 页平台版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8320" y="5943600"/>
            <a:ext cx="2286000" cy="274320"/>
          </a:xfrm>
          <a:prstGeom prst="rect">
            <a:avLst/>
          </a:prstGeom>
          <a:noFill/>
        </p:spPr>
        <p:txBody>
          <a:bodyPr wrap="square" anchor="t"/>
          <a:lstStyle/>
          <a:p>
            <a:pPr algn="r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1  /  11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6309360"/>
            <a:ext cx="5486400" cy="2286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Security Level: Internal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1  业务痛点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三个痛点，一个根因：缺统一表征与统一接口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来自一线业务复盘；每个痛点都对应后文一类模型能力。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78892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514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痛点一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多模态融合不足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423160"/>
            <a:ext cx="25146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异构模态缺乏统一对齐。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IMU / EMG / TP 各自建模：量纲、采样率、时钟不一致；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跨模态信息互相看不见，融合靠人工拼特征。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788920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20"/>
            <a:ext cx="2514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痛点二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多设备自适应困难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423160"/>
            <a:ext cx="25146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基于单设备独立优化。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每款设备单独采数据、单独调参；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换机型、换佩戴位置就要重新标定，成本线性增长。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2788920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51460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痛点三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多任务多场景泛化弱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423160"/>
            <a:ext cx="2514600" cy="23774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算法针对特定场景设计。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一个场景一个模型；新场景重新标注、重新训练；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无法零样本启动，长尾场景覆盖不了。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根因：没有「统一表征 + 统一接口」的物理时序底座——这正是平台的定位。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业务痛点    |    Security Level: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2  / 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2  模型盘点 · 通用时序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通用时序基础模型：预测强，分类只有两家原生支持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口径：预训练目标决定原生能力；TimesFM / Chronos / Moirai 都只做预测。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模型 / 作者单位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98648" y="1298448"/>
            <a:ext cx="210312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预训练目标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30368" y="1298448"/>
            <a:ext cx="31089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原生能力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67928" y="1298448"/>
            <a:ext cx="10972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93807" y="1298448"/>
            <a:ext cx="17373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许可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1664208"/>
            <a:ext cx="1124712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1700784"/>
            <a:ext cx="2103120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TimesFM-3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Google Research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ICML'24 / 3.0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98648" y="1719072"/>
            <a:ext cx="21031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decoder-only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分位数回归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30368" y="1719072"/>
            <a:ext cx="31089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多变量预测 + 协变量；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CPM 一次前向出 9 分位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67928" y="1719072"/>
            <a:ext cx="10972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✗ 规则/加头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893807" y="1719072"/>
            <a:ext cx="1737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3.0 权重 NC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≤2.5 Apache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487168"/>
            <a:ext cx="11247120" cy="749808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66928" y="2523744"/>
            <a:ext cx="2103120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Chronos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Amazon Science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ICML'24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98648" y="2542032"/>
            <a:ext cx="21031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离散 token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T5 式 NTP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0368" y="2542032"/>
            <a:ext cx="31089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单变量概率预测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567928" y="2542032"/>
            <a:ext cx="10972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893807" y="2542032"/>
            <a:ext cx="1737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Apache-2.0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310128"/>
            <a:ext cx="1124712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66928" y="3346704"/>
            <a:ext cx="2103120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Moirai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Salesforce AI Research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ICML'24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898648" y="3364992"/>
            <a:ext cx="21031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masked encoder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any-variate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30368" y="3364992"/>
            <a:ext cx="31089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多变量概率预测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67928" y="3364992"/>
            <a:ext cx="10972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✗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893807" y="3364992"/>
            <a:ext cx="1737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代码 Apache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权重 CC-BY-NC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4133088"/>
            <a:ext cx="11247120" cy="749808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66928" y="4169664"/>
            <a:ext cx="2103120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UniTS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Harvard + MIT Lincoln Lab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NeurIPS'24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898648" y="4187952"/>
            <a:ext cx="21031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任务 token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GEN/CLS 共享参数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230368" y="4187952"/>
            <a:ext cx="31089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预测+分类+填补+异常一体；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38 个数据集对比领先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67928" y="4187952"/>
            <a:ext cx="10972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2B230"/>
                </a:solidFill>
                <a:latin typeface="Microsoft YaHei"/>
                <a:ea typeface="Microsoft YaHei"/>
                <a:cs typeface="Microsoft YaHei"/>
              </a:rPr>
              <a:t>✓ 原生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93807" y="4187952"/>
            <a:ext cx="1737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4956048"/>
            <a:ext cx="11247120" cy="74980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4992624"/>
            <a:ext cx="2103120" cy="694944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MOMENT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CMU Auton Lab</a:t>
            </a:r>
          </a:p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ICML'24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98648" y="5010912"/>
            <a:ext cx="210312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掩码 patch 重建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T5 encoder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230368" y="5010912"/>
            <a:ext cx="31089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预测/分类/异常/填补；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线性探针即用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67928" y="5010912"/>
            <a:ext cx="109728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62B230"/>
                </a:solidFill>
                <a:latin typeface="Microsoft YaHei"/>
                <a:ea typeface="Microsoft YaHei"/>
                <a:cs typeface="Microsoft YaHei"/>
              </a:rPr>
              <a:t>✓ 探针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893807" y="5010912"/>
            <a:ext cx="1737360" cy="65836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MIT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457200" y="580644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952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457200" y="5806440"/>
            <a:ext cx="73152" cy="6400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所以  ·  预测底座选 TimesFM-3（多变量+协变量最强）；原生分类只有 UniTS / MOMENT——这正是双头设计的来源。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模型盘点    |    Security Level: Internal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3  / 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3  模型盘点 · 物理传感器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IMU / EMG 专用模型：提供领域先验，不当平台底座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传感器模型规模小、端侧导向；与通用底座互补，不替代。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298448"/>
            <a:ext cx="21945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模型 / 作者单位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990088" y="1298448"/>
            <a:ext cx="2834639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数据 / 预训练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53328" y="1298448"/>
            <a:ext cx="38404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能力亮点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122407" y="1298448"/>
            <a:ext cx="150876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部署 / 许可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164592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1673352"/>
            <a:ext cx="219456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LIMU-BERT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南洋理工+阿里巴巴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SenSys'21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90088" y="1682496"/>
            <a:ext cx="28346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IMU 三轴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掩码预训练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3328" y="1682496"/>
            <a:ext cx="3840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端侧 HAR 开山作；小样本迁移到手机 / 腕戴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22407" y="1682496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手机可部署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33172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66928" y="2359152"/>
            <a:ext cx="219456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LIMU-BERT-X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港科大+阿里巴巴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MobiCom'25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990088" y="2368296"/>
            <a:ext cx="28346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143 万小时 · 6 万人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1.1K 种机型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53328" y="2368296"/>
            <a:ext cx="3840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真实设备大规模泛化；端侧 HAR SOTA；外卖配送全国部署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122407" y="2368296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端侧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" y="301752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044952"/>
            <a:ext cx="219456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TartanIMU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CMU AirLab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CVPR'25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90088" y="3054096"/>
            <a:ext cx="28346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跨机器人 IMU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位姿基础模型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53328" y="3054096"/>
            <a:ext cx="3840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LoRA 仅 1.1M 参数即适配新机；200 FPS 在线推理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22407" y="3054096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机器人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70332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66928" y="3730752"/>
            <a:ext cx="219456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PRIMUS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Nokia Bell Labs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+华盛顿大学 ICASSP'25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90088" y="3739896"/>
            <a:ext cx="28346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IMU 多模态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自监督对齐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53328" y="3739896"/>
            <a:ext cx="3840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对齐预训练，提升下游 HAR / 健康任务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22407" y="3739896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57200" y="438912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66928" y="4416552"/>
            <a:ext cx="219456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Babel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微软研究院+威斯康星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麦迪逊+港科大 SenSys'25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990088" y="4425696"/>
            <a:ext cx="28346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6 模态对齐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IMU 塔 = LIMU-BERT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53328" y="4425696"/>
            <a:ext cx="3840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多模态人体感知表征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22407" y="4425696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研究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57200" y="507492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66928" y="5102352"/>
            <a:ext cx="2194560" cy="585216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Meta EMG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Meta</a:t>
            </a:r>
          </a:p>
          <a:p>
            <a:pPr algn="l">
              <a:spcAft>
                <a:spcPts val="200"/>
              </a:spcAft>
            </a:pPr>
            <a:r>
              <a:rPr sz="10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Nature'25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990088" y="5111496"/>
            <a:ext cx="2834639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sEMG 腕带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跨用户泛化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053328" y="5111496"/>
            <a:ext cx="384048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0.88 手势/s；手写 20.9 WPM；个性化再 +16%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122407" y="5111496"/>
            <a:ext cx="15087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腕带</a:t>
            </a:r>
          </a:p>
          <a:p>
            <a:pPr algn="l">
              <a:spcAft>
                <a:spcPts val="200"/>
              </a:spcAft>
            </a:pPr>
            <a:r>
              <a:rPr sz="11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CC-BY-NC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57200" y="5806440"/>
            <a:ext cx="11247120" cy="640080"/>
          </a:xfrm>
          <a:prstGeom prst="roundRect">
            <a:avLst>
              <a:gd name="adj" fmla="val 5000"/>
            </a:avLst>
          </a:prstGeom>
          <a:solidFill>
            <a:srgbClr val="FFF0F0"/>
          </a:solidFill>
          <a:ln w="9525">
            <a:solidFill>
              <a:srgbClr val="C700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457200" y="5806440"/>
            <a:ext cx="73152" cy="64008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85800" y="5806440"/>
            <a:ext cx="10881360" cy="64008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所以  ·  平台用 LIMU-BERT-X 初始化 IMU 变元、用 Meta EMG 作 EMG 对照；底座仍是通用模型。</a:t>
            </a:r>
          </a:p>
        </p:txBody>
      </p:sp>
      <p:sp>
        <p:nvSpPr>
          <p:cNvPr id="44" name="Rectangle 43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模型盘点    |    Security Level: Internal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4  / 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4  痛点 → 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每个痛点对应一类已验证的模型能力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平台不做场景：只把模型能力收敛成 接入 → 表征 → 预测 / 分类。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91440" cy="1115568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13232" y="1499616"/>
            <a:ext cx="2560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多模态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融合不足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1481328"/>
            <a:ext cx="8046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统一 patch token + 变元注意力：TimesFM-3 变元注意力、UniTS 任务 token；Babel 6 模态对齐作参照。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接入契约统一时钟、量纲、质量位——对齐在进模型前完成。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2606040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2606040"/>
            <a:ext cx="91440" cy="1115568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3232" y="2734056"/>
            <a:ext cx="2560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多设备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自适应困难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715768"/>
            <a:ext cx="8046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跨设备预训练先验：LIMU-BERT-X 覆盖 1.1K 机型、6 万人；Meta EMG 跨用户泛化。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RevIN 实例归一 + LoRA 轻适配（TartanIMU 仅 1.1M 参数即适配新设备）。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840480"/>
            <a:ext cx="11247120" cy="111556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" y="3840480"/>
            <a:ext cx="91440" cy="1115568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13232" y="3968496"/>
            <a:ext cx="2560320" cy="86868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5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多任务多场景</a:t>
            </a:r>
          </a:p>
          <a:p>
            <a:pPr algn="l">
              <a:spcAft>
                <a:spcPts val="200"/>
              </a:spcAft>
            </a:pPr>
            <a:r>
              <a:rPr sz="15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泛化弱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74720" y="3950208"/>
            <a:ext cx="8046720" cy="914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零样本基座：TimesFM-3 零样本预测；UniTS 零样本多任务（预测/分类/填补/异常）。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统一预测 / 分类接口，新场景先零样本启动，再按需微调。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66360"/>
            <a:ext cx="11247120" cy="77724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85232"/>
            <a:ext cx="10881360" cy="56692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平台边界：交付接入校验、共享表征、预测 / 分类双接口、评测工具链；不交付场景 Pack、整机、芯片。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痛点→方案    |    Security Level: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5  / 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5  接口定义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接入契约 + 预测接口 + 分类接口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所有输入先过接入校验；预测与分类共用同一批 patch token。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11247120" cy="18288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1124712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1088136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接入（数据契约） → 校验 → patch token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11680"/>
            <a:ext cx="10881360" cy="10058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数据契约 = {序列 id, 时间戳, 数值, 量纲单位, 质量位, 变元角色: 目标 / 仅历史 / 历史+未来}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校验：时钟对齐、量纲归一、质量位过滤、变元上限 32、历史段 ≤ 15,360。不合格直接拒收。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3383280"/>
            <a:ext cx="557784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57200" y="3383280"/>
            <a:ext cx="5577840" cy="73152"/>
          </a:xfrm>
          <a:prstGeom prst="rect">
            <a:avLst/>
          </a:prstGeom>
          <a:solidFill>
            <a:srgbClr val="62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6118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62B230"/>
                </a:solidFill>
                <a:latin typeface="Microsoft YaHei"/>
                <a:ea typeface="Microsoft YaHei"/>
                <a:cs typeface="Microsoft YaHei"/>
              </a:rPr>
              <a:t>预测（历史段, 预测时长） → {分位数, 点预测}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069080"/>
            <a:ext cx="521208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分位数：(V, H, 9) 十分位轨迹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点预测：(V, H) 中位数 q50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一次前向，CPM 非自回归；可拼接任意预测长度。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3383280"/>
            <a:ext cx="54864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3383280"/>
            <a:ext cx="5486400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3611880"/>
            <a:ext cx="512064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分类（时间窗） → {类别, 置信度}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069080"/>
            <a:ext cx="5120640" cy="12801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类别：场景方注册的类别 id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置信度：softmax 概率</a:t>
            </a:r>
          </a:p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基于共享表征 + 任务 token / 线性探针。</a:t>
            </a:r>
          </a:p>
        </p:txBody>
      </p:sp>
      <p:sp>
        <p:nvSpPr>
          <p:cNvPr id="19" name="Rectangle 18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接口    |    Security Level: Internal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6  / 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6  预测实现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TimesFM-3 式：CPM 一次前向出 9 分位数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预测是平台原生能力；接口固定，底座可换。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62356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58368" y="150876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输入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8368" y="1874520"/>
            <a:ext cx="5212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历史段 ≤ 15,360；变元 ≤ 32；目标 / 仅历史 / 历史+未来 三类变元。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71600"/>
            <a:ext cx="562356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64808" y="150876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特征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4808" y="1874520"/>
            <a:ext cx="5212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pad32 → 去趋势 → RevIN → patch 192 → ResidualBlock → 1280 token。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788920"/>
            <a:ext cx="562356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" y="29260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表征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" y="3291840"/>
            <a:ext cx="5212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20 × MixingTransformer：因果时间注意力 + 变元注意力 + FFN。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63640" y="2788920"/>
            <a:ext cx="562356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64808" y="292608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输出头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64808" y="3291840"/>
            <a:ext cx="5212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Linear 1280→64×9；CPM 掩码预测段；逆 RevIN；拼接任意预测长度。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206240"/>
            <a:ext cx="562356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8368" y="434340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读出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" y="4709160"/>
            <a:ext cx="5212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点预测 q50；概率区间 q10–q90；MAE + 覆盖率评测。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263640" y="4206240"/>
            <a:ext cx="5623560" cy="1298448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64808" y="4343400"/>
            <a:ext cx="5212080" cy="3200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替换点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64808" y="4709160"/>
            <a:ext cx="5212080" cy="6858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底座换 TimesFM-4 / 自研时，预测接口签名与返回结构不变。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预测    |    Security Level: Internal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7  / 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7  分类实现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共享表征 + 任务 token / 线性探针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分类不是 TimesFM 内建；平台用 UniTS / MOMENT 方式补。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778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577840" cy="73152"/>
          </a:xfrm>
          <a:prstGeom prst="rect">
            <a:avLst/>
          </a:prstGeom>
          <a:solidFill>
            <a:srgbClr val="89898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路 A  规则下游（零样本，示意）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21208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历史段：去趋势残差 z-score。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|z|≥3 CRITICAL，≥2 WARNING，否则 NORMAL。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未来段：观测是否落在 q10–q90 / q20–q80 外。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不改权重，不能注册新类别，只能做异常示意。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0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路 B  可学习分类（平台接口）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12064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UniTS：任务 token 把预测 / 分类 / 填补 / 异常收进同一套参数。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MOMENT：掩码预训练编码器 + 线性探针 / 分类头。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LIMU-BERT-X：IMU 掩码预训练，直接初始化 IMU 变元。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场景方注册类别 → 平台微调分类接口 → 返回类别 + 置信度。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分类    |    Security Level: Internal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8  / 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8  代际演进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Gen1 零样本基线 → Gen2 千人千面 → Gen3 Token 嵌入大模型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接口不变，能力逐代升级；每代回答一个业务问题。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41732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11480" y="1417320"/>
            <a:ext cx="2788920" cy="73152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48640" y="164592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Gen1  零样本基线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148840"/>
            <a:ext cx="251460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预训练底座直接上岗。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预测零样本（TimesFM-3）；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分类走规则 / 线性探针（UniTS / MOMENT）。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回答：底座行不行 → 统一评测基线。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37560" y="141732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337560" y="1417320"/>
            <a:ext cx="2788920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74720" y="164592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Gen2  千人千面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2148840"/>
            <a:ext cx="251460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轻量适配到每设备、每用户。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LoRA / 提示微调：TartanIMU 仅 1.1M 参数；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Meta EMG 个性化后再 +16%。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回答：换设备换人还行不行 → 画像进数据契约。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63640" y="1417320"/>
            <a:ext cx="2788920" cy="35661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63640" y="1417320"/>
            <a:ext cx="2788920" cy="73152"/>
          </a:xfrm>
          <a:prstGeom prst="rect">
            <a:avLst/>
          </a:prstGeom>
          <a:solidFill>
            <a:srgbClr val="30B5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1645920"/>
            <a:ext cx="251460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30B5C5"/>
                </a:solidFill>
                <a:latin typeface="Microsoft YaHei"/>
                <a:ea typeface="Microsoft YaHei"/>
                <a:cs typeface="Microsoft YaHei"/>
              </a:rPr>
              <a:t>Gen3  Token 嵌入大模型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148840"/>
            <a:ext cx="2514600" cy="2651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物理 patch token 作为新模态注入大模型。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预测 + 分类变成大模型的原生能力；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平台从「提供模型」变成「提供 token 与接口」。</a:t>
            </a:r>
          </a:p>
          <a:p>
            <a:pPr algn="l">
              <a:spcAft>
                <a:spcPts val="200"/>
              </a:spcAft>
            </a:pPr>
            <a:r>
              <a:rPr sz="12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回答：物理感知如何进入统一智能。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5120640"/>
            <a:ext cx="11247120" cy="822960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5257800"/>
            <a:ext cx="10881360" cy="54864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演进原则：接口（接入 / 预测 / 分类）向下兼容；底座、权重、头可独立替换。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代际演进    |    Security Level: Internal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9  / 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9  评测与许可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同一接口，同一评测，不同底座可对比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平台提供统一评测工具链；许可边界随底座变化。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57784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371600"/>
            <a:ext cx="5577840" cy="73152"/>
          </a:xfrm>
          <a:prstGeom prst="rect">
            <a:avLst/>
          </a:prstGeom>
          <a:solidFill>
            <a:srgbClr val="62B2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521208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62B230"/>
                </a:solidFill>
                <a:latin typeface="Microsoft YaHei"/>
                <a:ea typeface="Microsoft YaHei"/>
                <a:cs typeface="Microsoft YaHei"/>
              </a:rPr>
              <a:t>评测接口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521208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预测：MAE、q10–q90 覆盖率、长时域拼接稳定性。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分类：宏 F1、混淆矩阵、注册类别一致性。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底座对比：同一批数据，同一接口，换底座重跑。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371600"/>
            <a:ext cx="5486400" cy="420624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371600"/>
            <a:ext cx="5486400" cy="73152"/>
          </a:xfrm>
          <a:prstGeom prst="rect">
            <a:avLst/>
          </a:prstGeom>
          <a:solidFill>
            <a:srgbClr val="ED6D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600200"/>
            <a:ext cx="5120640" cy="36576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ED6D00"/>
                </a:solidFill>
                <a:latin typeface="Microsoft YaHei"/>
                <a:ea typeface="Microsoft YaHei"/>
                <a:cs typeface="Microsoft YaHei"/>
              </a:rPr>
              <a:t>许可边界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03120"/>
            <a:ext cx="5120640" cy="3200400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TimesFM-3 权重：NC，商用必须自训底座。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TimesFM ≤ 2.5：Apache-2.0，可商用。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UniTS / MOMENT：MIT，可商用。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Moirai 权重 / Meta EMG：CC-BY-NC，仅研究。</a:t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/>
            </a:r>
          </a:p>
          <a:p>
            <a:pPr algn="l">
              <a:spcAft>
                <a:spcPts val="200"/>
              </a:spcAft>
            </a:pPr>
            <a:r>
              <a:rPr sz="1400" b="0">
                <a:solidFill>
                  <a:srgbClr val="555757"/>
                </a:solidFill>
                <a:latin typeface="Microsoft YaHei"/>
                <a:ea typeface="Microsoft YaHei"/>
                <a:cs typeface="Microsoft YaHei"/>
              </a:rPr>
              <a:t>平台不绑定任何 NC 权重；接口层与许可层解耦。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评测与许可    |    Security Level: Internal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10  / 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6763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01168"/>
            <a:ext cx="11155680" cy="25603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1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决策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438912"/>
            <a:ext cx="11155680" cy="438912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2400" b="1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平台交付接口与工具链，不交付场景语义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1097280" cy="45720"/>
          </a:xfrm>
          <a:prstGeom prst="rect">
            <a:avLst/>
          </a:prstGeom>
          <a:solidFill>
            <a:srgbClr val="C700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024128"/>
            <a:ext cx="11155680" cy="292608"/>
          </a:xfrm>
          <a:prstGeom prst="rect">
            <a:avLst/>
          </a:prstGeom>
          <a:noFill/>
        </p:spPr>
        <p:txBody>
          <a:bodyPr wrap="square" anchor="t"/>
          <a:lstStyle/>
          <a:p>
            <a:pPr algn="l">
              <a:spcAft>
                <a:spcPts val="200"/>
              </a:spcAft>
            </a:pPr>
            <a:r>
              <a:rPr sz="12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痛点驱动：统一表征 + 统一接口；底座可换，代际演进向下兼容。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98448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298448"/>
            <a:ext cx="14630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痛点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1298448"/>
            <a:ext cx="92354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多模态融合不足、多设备自适应困难、多任务泛化弱 → 统一表征 + 统一接口。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993391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1993391"/>
            <a:ext cx="14630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接口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1993391"/>
            <a:ext cx="92354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接入契约 + 预测接口 + 分类接口；版本化，向下兼容。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688336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2688336"/>
            <a:ext cx="14630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预测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688336"/>
            <a:ext cx="92354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TimesFM-3 式 CPM 一次前向；点预测 q50；评测 MAE + 覆盖率。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383280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383280"/>
            <a:ext cx="14630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分类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3383280"/>
            <a:ext cx="92354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UniTS 任务 token / MOMENT 线性探针；场景方注册类别，平台微调。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078224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080" y="4078224"/>
            <a:ext cx="14630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演进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286000" y="4078224"/>
            <a:ext cx="92354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零样本基线 → 千人千面 → Token 嵌入大模型；接口不变。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4773168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7F7F7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40080" y="4773168"/>
            <a:ext cx="14630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许可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286000" y="4773168"/>
            <a:ext cx="92354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3.0 权重 NC；≤2.5 Apache；UniTS / MOMENT MIT；平台层与许可层解耦。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5468112"/>
            <a:ext cx="11247120" cy="621792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9525">
            <a:solidFill>
              <a:srgbClr val="DDDD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0080" y="5468112"/>
            <a:ext cx="14630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600" b="1">
                <a:solidFill>
                  <a:srgbClr val="C7000B"/>
                </a:solidFill>
                <a:latin typeface="Microsoft YaHei"/>
                <a:ea typeface="Microsoft YaHei"/>
                <a:cs typeface="Microsoft YaHei"/>
              </a:rPr>
              <a:t>不做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286000" y="5468112"/>
            <a:ext cx="9235440" cy="621792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1300" b="0">
                <a:solidFill>
                  <a:srgbClr val="1A1A1A"/>
                </a:solidFill>
                <a:latin typeface="Microsoft YaHei"/>
                <a:ea typeface="Microsoft YaHei"/>
                <a:cs typeface="Microsoft YaHei"/>
              </a:rPr>
              <a:t>场景 Pack、整机、芯片、自建大模型、世界视频、把 TimesFM 当分类模型宣传。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6537960"/>
            <a:ext cx="822960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l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华为  ·  AI 物理感知平台  ·  决策    |    Security Level: Internal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41280" y="6537960"/>
            <a:ext cx="1554480" cy="320040"/>
          </a:xfrm>
          <a:prstGeom prst="rect">
            <a:avLst/>
          </a:prstGeom>
          <a:noFill/>
        </p:spPr>
        <p:txBody>
          <a:bodyPr wrap="square" anchor="ctr"/>
          <a:lstStyle/>
          <a:p>
            <a:pPr algn="r">
              <a:spcAft>
                <a:spcPts val="200"/>
              </a:spcAft>
            </a:pPr>
            <a:r>
              <a:rPr sz="900" b="0">
                <a:solidFill>
                  <a:srgbClr val="898989"/>
                </a:solidFill>
                <a:latin typeface="Microsoft YaHei"/>
                <a:ea typeface="Microsoft YaHei"/>
                <a:cs typeface="Microsoft YaHei"/>
              </a:rPr>
              <a:t>11  / 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 panose="020B0A04020102020204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FC2917F5-FC52-4782-A0FF-AE2013F589C8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25829FED-7996-4B48-8C44-EBA668E4F8ED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Microsoft YaHei" panose="020B0503020204020204" pitchFamily="34" charset="-122"/>
            <a:ea typeface="Microsoft YaHei" panose="020B0503020204020204" pitchFamily="34" charset="-122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6DF1AB71-8E54-4DA3-96CA-45CA365BFE54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演示文稿1" id="{5D7106B4-FD24-471A-B326-8B58E27A973B}" vid="{1AA013AF-7C2E-4A39-9796-86760F640C19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88</TotalTime>
  <Words>55</Words>
  <Application>Microsoft Office PowerPoint</Application>
  <PresentationFormat>自定义</PresentationFormat>
  <Paragraphs>49</Paragraphs>
  <Slides>5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5</vt:i4>
      </vt:variant>
    </vt:vector>
  </HeadingPairs>
  <TitlesOfParts>
    <vt:vector size="14" baseType="lpstr">
      <vt:lpstr>黑体</vt:lpstr>
      <vt:lpstr>Microsoft YaHei</vt:lpstr>
      <vt:lpstr>Arial</vt:lpstr>
      <vt:lpstr>Calibri</vt:lpstr>
      <vt:lpstr>Calibri Light</vt:lpstr>
      <vt:lpstr>1_Title Slide</vt:lpstr>
      <vt:lpstr>Chart page</vt:lpstr>
      <vt:lpstr>4_Chart page</vt:lpstr>
      <vt:lpstr>End page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Hanke (A)</cp:lastModifiedBy>
  <cp:revision>11</cp:revision>
  <dcterms:created xsi:type="dcterms:W3CDTF">2018-12-05T07:23:25Z</dcterms:created>
  <dcterms:modified xsi:type="dcterms:W3CDTF">2021-01-28T09:59:27Z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</Properties>
</file>