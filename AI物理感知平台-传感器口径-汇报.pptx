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立项汇报  ·  物理 = 视频 / 音频 / 文字之外的传感器信号</a:t>
            </a:r>
            <a:endParaRPr sz="14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物理感知平台</a:t>
            </a:r>
            <a:endParaRPr sz="40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359152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做信号操作系统，不做语言大模型，不做世界视频</a:t>
            </a:r>
            <a:endParaRPr sz="18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10881360" cy="13258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1042416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VLM 已吃掉图声文；雷达 / IMU / EMG / UWB 仍是一路一个小模型。我们补中间层。</a:t>
            </a:r>
            <a:endParaRPr sz="16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480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4956048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四座塔：雷达 · IMU · EMG · UWB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4480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6177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怎么验证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26280" y="4956048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加进来必须加分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19" y="44805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4617720"/>
            <a:ext cx="3154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先打哪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9" y="4956048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无接触生命体征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 ·  蓝图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418320" y="612648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/  13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规格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主吃六路；视频 / 音频 / 文本只作对齐教师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禁止把摄像头当训练与评测的主输入。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618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本平台取</a:t>
            </a:r>
            <a:endParaRPr sz="120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261872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主模态</a:t>
            </a:r>
            <a:endParaRPr sz="110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2064" y="1554480"/>
            <a:ext cx="34747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 · IMU · EMG · 接近光 · TOF · TP</a:t>
            </a:r>
            <a:endParaRPr sz="14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80" y="1207008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2618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 A</a:t>
            </a:r>
            <a:endParaRPr sz="12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261872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</a:t>
            </a:r>
            <a:endParaRPr sz="11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43984" y="1554480"/>
            <a:ext cx="34747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世界模型：Cosmos / Dreamer / JEPA</a:t>
            </a:r>
            <a:endParaRPr sz="14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1207008"/>
            <a:ext cx="379476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2618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 B</a:t>
            </a:r>
            <a:endParaRPr sz="12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60" y="1261872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</a:t>
            </a:r>
            <a:endParaRPr sz="11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1554480"/>
            <a:ext cx="347472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Occupancy：Tesla / World Labs Marble</a:t>
            </a:r>
            <a:endParaRPr sz="14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" y="221284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34086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0352" y="277977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 / 速度 / 微动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0352" y="325526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第一塔：生命体征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297680" y="221284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234086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62272" y="277977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加速度 / 角速度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62272" y="325526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第二塔：运动状态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29600" y="221284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34086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94192" y="277977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肌腱表面电位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94192" y="325526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第三塔：微手势、写字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5760" y="399592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12394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UWB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0352" y="456285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无线电 TOF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352" y="503834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第四塔：数字钥匙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297680" y="399592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2272" y="412394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接近光 / TOF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462272" y="456285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近距有无 / 距离图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462272" y="503834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常开、暗光可用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29600" y="3995928"/>
            <a:ext cx="3794760" cy="16642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94192" y="4123944"/>
            <a:ext cx="347472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94192" y="4562856"/>
            <a:ext cx="34747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触点 / 掌误触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94192" y="5038343"/>
            <a:ext cx="34747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接触事件</a:t>
            </a:r>
            <a:endParaRPr sz="14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  ·  四座塔按商用场景立项。义肢、针电极不做。</a:t>
            </a:r>
            <a:endParaRPr sz="13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规格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为什么现在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图声文有基础模型，物理信号还没有操作系统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四条公开结果。汇报时只念标题，细节留问答。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1732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雷达能进大模型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5257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HoloLLM：mmWave 注入 VLM，人体感知最高 +30%。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41732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已开卖，仍要试戴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4808" y="1965960"/>
            <a:ext cx="5257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Neural Band 2025-09 开卖，近 20 万人体验。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5760" y="32004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8328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如何对齐其他模态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5257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Babel：ImageBind 对 IMU 几乎无效。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20040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3383280"/>
            <a:ext cx="5257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预训练模型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64808" y="3931920"/>
            <a:ext cx="5257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LIMU-BERT：手机上可实时跑。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  ·  缺口在接入与表征，不在再训一个视觉或语言大模型。</a:t>
            </a:r>
            <a:endParaRPr sz="13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缺口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代际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主线不是模型更大，而是信号如何被编码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交付，G3 做底座，主攻 G4。Hub 已出货，缺的是分传感器 token。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92608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G0</a:t>
            </a:r>
            <a:endParaRPr sz="18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滤波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Kalman / 阈值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267712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</a:t>
            </a:r>
            <a:endParaRPr sz="18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40864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单模态深度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40864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IMU-LSTM / 雷达 CNN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42816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</a:t>
            </a:r>
            <a:endParaRPr sz="18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15968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Hub 规则+小网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15968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端侧量产主力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C2C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</a:t>
            </a:r>
            <a:endParaRPr sz="18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91072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传感基础模型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91072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LIMU-BERT / Babel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93024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C2C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6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</a:t>
            </a:r>
            <a:endParaRPr sz="18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66176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分传感器 token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66176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当前窗口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168128" y="1207008"/>
            <a:ext cx="1883664" cy="1874519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1298448"/>
            <a:ext cx="173736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G5</a:t>
            </a:r>
            <a:endParaRPr sz="18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241280" y="1719072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 OS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41280" y="2331720"/>
            <a:ext cx="17373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预埋接口</a:t>
            </a:r>
            <a:endParaRPr sz="12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5760" y="3246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46120"/>
            <a:ext cx="91440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246120"/>
            <a:ext cx="29260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不跳 G0→G1</a:t>
            </a:r>
            <a:endParaRPr sz="15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57600" y="3246120"/>
            <a:ext cx="786384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换机型，手工阈值全失效。LIMU-BERT 证明 IMU 可离开阈值。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5760" y="4069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91440" cy="7498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69080"/>
            <a:ext cx="29260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818C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不跳 G1→G2</a:t>
            </a:r>
            <a:endParaRPr sz="1500" b="1">
              <a:solidFill>
                <a:srgbClr val="818C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0" y="4069080"/>
            <a:ext cx="786384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入袋 / 抬腕各写 if-else。Hub 已把多路接到低功耗核。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65760" y="4892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892040"/>
            <a:ext cx="91440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892040"/>
            <a:ext cx="292608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不跳 G3→G4</a:t>
            </a:r>
            <a:endParaRPr sz="15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0" y="4892040"/>
            <a:ext cx="786384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每加一路雷达、IMU、UWB 或 EMG 重写产线。Babel 证明可以只加一座塔。</a:t>
            </a:r>
            <a:endParaRPr sz="15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代际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验证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加上哪座塔，哪个场景就必须更好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无采样率、单位、时间基的数据包，Ingest 直接拒收。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457200"/>
          </a:xfrm>
          <a:prstGeom prst="roundRect">
            <a:avLst>
              <a:gd name="adj" fmla="val 8000"/>
            </a:avLst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塔</a:t>
            </a:r>
            <a:endParaRPr sz="1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328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</a:t>
            </a:r>
            <a:endParaRPr sz="1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5256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加上</a:t>
            </a:r>
            <a:endParaRPr sz="14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" y="171907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1907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</a:t>
            </a:r>
            <a:endParaRPr sz="16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171907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生命体征</a:t>
            </a:r>
            <a:endParaRPr sz="15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0" y="171907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被子里没有读数</a:t>
            </a:r>
            <a:endParaRPr sz="15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52560" y="171907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被子里也有呼吸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65760" y="2679191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9191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</a:t>
            </a:r>
            <a:endParaRPr sz="16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83280" y="2679191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运动状态</a:t>
            </a:r>
            <a:endParaRPr sz="15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2679191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抬腕 / 入袋分不清</a:t>
            </a:r>
            <a:endParaRPr sz="15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52560" y="2679191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抬腕 / 入袋可识别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363931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63931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</a:t>
            </a:r>
            <a:endParaRPr sz="16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83280" y="363931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眼镜写字</a:t>
            </a:r>
            <a:endParaRPr sz="15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17920" y="363931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微点 / 笔画做不到</a:t>
            </a:r>
            <a:endParaRPr sz="15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52560" y="363931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微点 / 笔画可用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5760" y="4599432"/>
            <a:ext cx="11430000" cy="8686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9943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UWB</a:t>
            </a:r>
            <a:endParaRPr sz="16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83280" y="459943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数字钥匙</a:t>
            </a:r>
            <a:endParaRPr sz="1500" b="0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17920" y="459943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 会被中继骗过</a:t>
            </a:r>
            <a:endParaRPr sz="15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52560" y="4599432"/>
            <a:ext cx="2651760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抗中继，走近才开</a:t>
            </a:r>
            <a:endParaRPr sz="15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验证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对标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缺的不是器件，是中间那层操作系统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抄时钟与 schema，抄分传感器塔。不抄封闭小模型，不卖整机，不造芯片。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  整机</a:t>
            </a:r>
            <a:endParaRPr sz="20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0" y="139903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不卖整机</a:t>
            </a:r>
            <a:endParaRPr sz="14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87452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Neural Band、BMW 数字钥匙、睡眠雷达卖体验。责任绑在整机，原始波形不对外开放。</a:t>
            </a:r>
            <a:endParaRPr sz="16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65760" y="278892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1C2C4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53512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  信号 OS  ← 我们</a:t>
            </a:r>
            <a:endParaRPr sz="20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03920" y="295351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主航道</a:t>
            </a:r>
            <a:endParaRPr sz="140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Hub / Core Motion 停在 G2。我们补四座 tokenizer，以及「加雷达 / 加 IMU / 加 EMG / 加 UWB 必须更好」的表。</a:t>
            </a:r>
            <a:endParaRPr sz="16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" y="4343400"/>
            <a:ext cx="11430000" cy="141732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2"/>
            <a:ext cx="7772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  器件</a:t>
            </a:r>
            <a:endParaRPr sz="20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03920" y="4507992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40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不造芯片</a:t>
            </a:r>
            <a:endParaRPr sz="140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Bosch IMU、Infineon 雷达、ST UWB、干电极 EMG。集成探头，不自研硅。</a:t>
            </a:r>
            <a:endParaRPr sz="16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对标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TOP3 团队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lang="en-US"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TOP3</a:t>
            </a:r>
            <a:r>
              <a:rPr lang="zh-CN" altLang="en-US"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endParaRPr lang="zh-CN" altLang="en-US"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标准：把非视听文传感器当一等模态，且有可复用表征。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365760" y="1207008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365760" y="1207008"/>
            <a:ext cx="109728" cy="4526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40080" y="13716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港科大 Mo Li</a:t>
            </a:r>
            <a:endParaRPr sz="1600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640080" y="18288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LIMU-BERT → Babel</a:t>
            </a:r>
            <a:endParaRPr sz="14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40080" y="233172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自监督基础模型；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Wi‑Fi / 雷达 / IMU / LiDAR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可扩展对齐，不必全配对。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40080" y="411480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分模态塔 +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可追加对齐。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4297680" y="1207008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4297680" y="1207008"/>
            <a:ext cx="109728" cy="4526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572000" y="13716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南洋理工 MARS</a:t>
            </a:r>
            <a:endParaRPr sz="16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572000" y="18288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HoloLLM</a:t>
            </a:r>
            <a:endParaRPr sz="14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4572000" y="233172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mmWave / LiDAR / 红外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 VLM；稀有模态注入器，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不幻想万能 ViT。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4572000" y="411480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雷达塔接入 +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异构注入器。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8229600" y="1207008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4"/>
            </p:custDataLst>
          </p:nvPr>
        </p:nvSpPr>
        <p:spPr>
          <a:xfrm>
            <a:off x="8229600" y="1207008"/>
            <a:ext cx="109728" cy="4526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8503920" y="13716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Meta FAIR / Reality</a:t>
            </a:r>
            <a:endParaRPr sz="16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6"/>
            </p:custDataLst>
          </p:nvPr>
        </p:nvSpPr>
        <p:spPr>
          <a:xfrm>
            <a:off x="8503920" y="1828800"/>
            <a:ext cx="3337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 · Sparsh · Neural Band</a:t>
            </a:r>
            <a:endParaRPr sz="14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8503920" y="2331720"/>
            <a:ext cx="33375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触觉工具化（Plexus）；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腕带 EMG 已开卖，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仍强制店内试戴。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8503920" y="4114800"/>
            <a:ext cx="3337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工具化形态 +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塔与接触几何。</a:t>
            </a:r>
            <a:endParaRPr sz="14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团队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 商用场景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 · IMU · EMG · UWB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汇报只讲这一页。先打生命体征。细证据在附录，被问再翻。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11521440" cy="438912"/>
          </a:xfrm>
          <a:prstGeom prst="roundRect">
            <a:avLst>
              <a:gd name="adj" fmla="val 8000"/>
            </a:avLst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1031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endParaRPr sz="12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60320" y="118872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眼镜写字 / 微手势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04840" y="118872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无接触生命体征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55480" y="1188720"/>
            <a:ext cx="219456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UWB 数字钥匙</a:t>
            </a:r>
            <a:endParaRPr sz="13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20040" y="1682496"/>
            <a:ext cx="1152144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82496"/>
            <a:ext cx="2057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3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560320" y="1682496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手在桌下也能写、口袋里也能点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04840" y="1682496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不贴电极，被子里也要有呼吸心跳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55480" y="1682496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走近要开，假的「很近」要识破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0040" y="2487168"/>
            <a:ext cx="11521440" cy="74980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487168"/>
            <a:ext cx="2057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谁付钱</a:t>
            </a:r>
            <a:endParaRPr sz="13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60320" y="2487168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眼镜 OEM / XR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704840" y="2487168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养老 / 睡眠硬件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555480" y="2487168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车身电子 + 手机 OEM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20040" y="3291840"/>
            <a:ext cx="1152144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91840"/>
            <a:ext cx="2057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为何不用摄像头</a:t>
            </a:r>
            <a:endParaRPr sz="13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0320" y="3291840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手在桌下、口袋里，会议室不能出声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4840" y="3291840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卧室卫生间不能常开录像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555480" y="3291840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中继是无线电欺骗，不是图像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20040" y="4096512"/>
            <a:ext cx="11521440" cy="74980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96512"/>
            <a:ext cx="2057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加哪路更好</a:t>
            </a:r>
            <a:endParaRPr sz="13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60320" y="4096512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 EMG：微点 / 写字可用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04840" y="4096512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加雷达：被子里也有读数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55480" y="4096512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 UWB：抗中继，走近才开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20040" y="4901184"/>
            <a:ext cx="11521440" cy="749808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901184"/>
            <a:ext cx="205740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BF2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我们交什么</a:t>
            </a:r>
            <a:endParaRPr sz="1300" b="1">
              <a:solidFill>
                <a:srgbClr val="FBBF2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60320" y="4901184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塔 + 对比表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704840" y="4901184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雷达微动塔 + 对比表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555480" y="4901184"/>
            <a:ext cx="2194560" cy="7498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UWB 塔 + 抗中继评测</a:t>
            </a:r>
            <a:endParaRPr sz="1300" b="0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场景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1100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被问到数字时翻这一页，汇报正文不念</a:t>
            </a:r>
            <a:endParaRPr sz="2200" b="1">
              <a:solidFill>
                <a:srgbClr val="F8FA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厂商口径单独标明。阈值用自有 Pack 标定后写入 Eval。</a:t>
            </a:r>
            <a:endParaRPr sz="13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Meta Neural Band（2025-09）：与 Ray-Ban Display 捆绑 799 美元；近 20 万受试者；强制店内试戴；手写消息未上线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Mudra Link 约 249 美元；Apple 表带电极专利 + EMBridge（NeurIPS 2025 workshop），手表未出货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AKM AK5816AIM（2026-07 量产）：无摄像头跌倒 + 呼吸；模块口径写静息 / 睡眠，走动伪迹未收口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3182111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BMW Digital Key Plus / 奔驰：UWB 约 4 m 定左右侧防中继；CCC Digital Key 已上车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3822191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Babel SenSys 2025：ImageBind 对 IMU 几乎无效；LIMU-BERT 手机可实时跑；HoloLLM mmWave +30%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4462272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港科大 Mo Li：LIMU-BERT → UniHAR → Babel；南洋理工 MARS：HoloLLM；Meta FAIR：DIGIT / Sparsh / Neural Band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5102351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 观察不进本版 TOP4：座舱 CPD、房间人感、肌电义肢（器械渠道）</a:t>
            </a:r>
            <a:endParaRPr sz="140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物理感知  ·  来源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 /  13</a:t>
            </a:r>
            <a:endParaRPr sz="9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2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3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4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5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6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7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8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9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0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1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2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3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4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5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6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7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ags/tag18.xml><?xml version="1.0" encoding="utf-8"?>
<p:tagLst xmlns:p="http://schemas.openxmlformats.org/presentationml/2006/main">
  <p:tag name="KSO_WM_DIAGRAM_VIRTUALLY_FRAME" val="{&quot;height&quot;:356.4,&quot;left&quot;:28.8,&quot;top&quot;:95.03999999999999,&quot;width&quot;:9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2774</Words>
  <Application>WPS 演示</Application>
  <PresentationFormat>On-screen Show (4:3)</PresentationFormat>
  <Paragraphs>377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章瑞</cp:lastModifiedBy>
  <cp:revision>5</cp:revision>
  <dcterms:created xsi:type="dcterms:W3CDTF">2013-01-27T09:14:00Z</dcterms:created>
  <dcterms:modified xsi:type="dcterms:W3CDTF">2026-09-03T06:47:55Z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DA12675A5BB24A17B9381EB581E93212_12</vt:lpwstr>
  </property>
  <property fmtid="{D5CDD505-2E9C-101B-9397-08002B2CF9AE}" pid="3" name="KSOProductBuildVer">
    <vt:lpwstr>2052-12.1.0.26988</vt:lpwstr>
  </property>
</Properties>
</file>